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5"/>
  </p:notesMasterIdLst>
  <p:sldIdLst>
    <p:sldId id="256" r:id="rId2"/>
    <p:sldId id="257" r:id="rId3"/>
    <p:sldId id="258" r:id="rId4"/>
    <p:sldId id="392" r:id="rId5"/>
    <p:sldId id="390" r:id="rId6"/>
    <p:sldId id="312" r:id="rId7"/>
    <p:sldId id="310" r:id="rId8"/>
    <p:sldId id="311" r:id="rId9"/>
    <p:sldId id="309" r:id="rId10"/>
    <p:sldId id="362" r:id="rId11"/>
    <p:sldId id="363" r:id="rId12"/>
    <p:sldId id="364" r:id="rId13"/>
    <p:sldId id="365" r:id="rId14"/>
    <p:sldId id="366" r:id="rId15"/>
    <p:sldId id="367" r:id="rId16"/>
    <p:sldId id="368" r:id="rId17"/>
    <p:sldId id="369" r:id="rId18"/>
    <p:sldId id="370" r:id="rId19"/>
    <p:sldId id="373" r:id="rId20"/>
    <p:sldId id="374" r:id="rId21"/>
    <p:sldId id="389" r:id="rId22"/>
    <p:sldId id="393" r:id="rId23"/>
    <p:sldId id="375" r:id="rId24"/>
    <p:sldId id="388" r:id="rId25"/>
    <p:sldId id="376" r:id="rId26"/>
    <p:sldId id="377" r:id="rId27"/>
    <p:sldId id="387" r:id="rId28"/>
    <p:sldId id="294" r:id="rId29"/>
    <p:sldId id="380" r:id="rId30"/>
    <p:sldId id="379" r:id="rId31"/>
    <p:sldId id="381" r:id="rId32"/>
    <p:sldId id="378" r:id="rId33"/>
    <p:sldId id="382" r:id="rId34"/>
    <p:sldId id="383" r:id="rId35"/>
    <p:sldId id="384" r:id="rId36"/>
    <p:sldId id="386" r:id="rId37"/>
    <p:sldId id="385" r:id="rId38"/>
    <p:sldId id="391" r:id="rId39"/>
    <p:sldId id="295" r:id="rId40"/>
    <p:sldId id="296" r:id="rId41"/>
    <p:sldId id="297" r:id="rId42"/>
    <p:sldId id="298" r:id="rId43"/>
    <p:sldId id="299" r:id="rId44"/>
  </p:sldIdLst>
  <p:sldSz cx="12192000" cy="6858000"/>
  <p:notesSz cx="6858000" cy="9144000"/>
  <p:embeddedFontLst>
    <p:embeddedFont>
      <p:font typeface="Calibri" panose="020F0502020204030204" pitchFamily="34" charset="0"/>
      <p:regular r:id="rId46"/>
      <p:bold r:id="rId47"/>
      <p:italic r:id="rId48"/>
      <p:boldItalic r:id="rId49"/>
    </p:embeddedFont>
    <p:embeddedFont>
      <p:font typeface="Noto Sans Symbols" panose="020B0602040504020204" pitchFamily="34" charset="0"/>
      <p:regular r:id="rId50"/>
      <p:bold r:id="rId51"/>
    </p:embeddedFont>
    <p:embeddedFont>
      <p:font typeface="Quattrocento Sans" panose="020B0502050000020003" pitchFamily="34" charset="0"/>
      <p:regular r:id="rId52"/>
      <p:bold r:id="rId53"/>
      <p:italic r:id="rId54"/>
      <p:boldItalic r:id="rId55"/>
    </p:embeddedFont>
    <p:embeddedFont>
      <p:font typeface="Roboto" panose="02000000000000000000" pitchFamily="2" charset="0"/>
      <p:regular r:id="rId56"/>
      <p:bold r:id="rId57"/>
      <p:italic r:id="rId58"/>
      <p:boldItalic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65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70"/>
    <p:restoredTop sz="94607" autoAdjust="0"/>
  </p:normalViewPr>
  <p:slideViewPr>
    <p:cSldViewPr snapToGrid="0">
      <p:cViewPr varScale="1">
        <p:scale>
          <a:sx n="45" d="100"/>
          <a:sy n="45" d="100"/>
        </p:scale>
        <p:origin x="216" y="1400"/>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font" Target="fonts/font10.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font" Target="fonts/font8.fntdata"/><Relationship Id="rId58" Type="http://schemas.openxmlformats.org/officeDocument/2006/relationships/font" Target="fonts/font13.fntdata"/><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56"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59"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9.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 Id="rId57" Type="http://schemas.openxmlformats.org/officeDocument/2006/relationships/font" Target="fonts/font1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7.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 name="Google Shape;4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44" name="Google Shape;4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 name="Google Shape;51;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171450" lvl="0" indent="-171450" algn="l" rtl="0">
              <a:spcBef>
                <a:spcPts val="0"/>
              </a:spcBef>
              <a:spcAft>
                <a:spcPts val="0"/>
              </a:spcAft>
              <a:buClr>
                <a:schemeClr val="dk1"/>
              </a:buClr>
              <a:buSzPts val="1200"/>
              <a:buFont typeface="Calibri" panose="020F0502020204030204"/>
              <a:buChar char="-"/>
            </a:pPr>
            <a:endParaRPr dirty="0"/>
          </a:p>
        </p:txBody>
      </p:sp>
      <p:sp>
        <p:nvSpPr>
          <p:cNvPr id="52" name="Google Shape;52;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63" name="Google Shape;63;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63" name="Google Shape;63;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lang="en-US"/>
          </a:p>
        </p:txBody>
      </p:sp>
    </p:spTree>
    <p:extLst>
      <p:ext uri="{BB962C8B-B14F-4D97-AF65-F5344CB8AC3E}">
        <p14:creationId xmlns:p14="http://schemas.microsoft.com/office/powerpoint/2010/main" val="28511352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63" name="Google Shape;63;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lang="en-US"/>
          </a:p>
        </p:txBody>
      </p:sp>
    </p:spTree>
    <p:extLst>
      <p:ext uri="{BB962C8B-B14F-4D97-AF65-F5344CB8AC3E}">
        <p14:creationId xmlns:p14="http://schemas.microsoft.com/office/powerpoint/2010/main" val="14606860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346" name="Google Shape;346;p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346" name="Google Shape;346;p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346" name="Google Shape;346;p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346" name="Google Shape;346;p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346" name="Google Shape;346;p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346" name="Google Shape;346;p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346" name="Google Shape;346;p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346" name="Google Shape;346;p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200"/>
              <a:buFont typeface="Calibri" panose="020F0502020204030204"/>
              <a:buNone/>
            </a:pPr>
            <a:endParaRPr lang="en-US" dirty="0"/>
          </a:p>
        </p:txBody>
      </p:sp>
      <p:sp>
        <p:nvSpPr>
          <p:cNvPr id="346" name="Google Shape;346;p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346" name="Google Shape;346;p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346" name="Google Shape;346;p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lang="en-US" dirty="0"/>
          </a:p>
        </p:txBody>
      </p:sp>
      <p:sp>
        <p:nvSpPr>
          <p:cNvPr id="346" name="Google Shape;346;p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lang="en-US"/>
          </a:p>
        </p:txBody>
      </p:sp>
    </p:spTree>
    <p:extLst>
      <p:ext uri="{BB962C8B-B14F-4D97-AF65-F5344CB8AC3E}">
        <p14:creationId xmlns:p14="http://schemas.microsoft.com/office/powerpoint/2010/main" val="38688663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p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171450" lvl="0" indent="-95250" algn="l" rtl="0">
              <a:spcBef>
                <a:spcPts val="0"/>
              </a:spcBef>
              <a:spcAft>
                <a:spcPts val="0"/>
              </a:spcAft>
              <a:buClr>
                <a:schemeClr val="dk1"/>
              </a:buClr>
              <a:buSzPts val="1200"/>
              <a:buFont typeface="Calibri" panose="020F0502020204030204"/>
              <a:buNone/>
            </a:pPr>
            <a:endParaRPr/>
          </a:p>
        </p:txBody>
      </p:sp>
      <p:sp>
        <p:nvSpPr>
          <p:cNvPr id="354" name="Google Shape;354;p4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0" name="Google Shape;3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1" name="Google Shape;361;p4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8" name="Google Shape;368;p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171450" lvl="0" indent="-95250" algn="l" rtl="0">
              <a:spcBef>
                <a:spcPts val="0"/>
              </a:spcBef>
              <a:spcAft>
                <a:spcPts val="0"/>
              </a:spcAft>
              <a:buClr>
                <a:schemeClr val="dk1"/>
              </a:buClr>
              <a:buSzPts val="1200"/>
              <a:buFont typeface="Calibri" panose="020F0502020204030204"/>
              <a:buNone/>
            </a:pPr>
            <a:endParaRPr/>
          </a:p>
        </p:txBody>
      </p:sp>
      <p:sp>
        <p:nvSpPr>
          <p:cNvPr id="369" name="Google Shape;369;p4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5" name="Google Shape;375;p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6" name="Google Shape;376;p4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83" name="Google Shape;383;p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4" name="Google Shape;384;p4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rgbClr val="000000"/>
                </a:solidFill>
                <a:latin typeface="Arial" panose="020B0604020202020204"/>
                <a:ea typeface="Arial" panose="020B0604020202020204"/>
                <a:cs typeface="Arial" panose="020B0604020202020204"/>
                <a:sym typeface="Arial" panose="020B0604020202020204"/>
              </a:rPr>
              <a:t>43</a:t>
            </a:fld>
            <a:endParaRPr sz="120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grpSp>
        <p:nvGrpSpPr>
          <p:cNvPr id="16" name="Google Shape;16;p46"/>
          <p:cNvGrpSpPr/>
          <p:nvPr/>
        </p:nvGrpSpPr>
        <p:grpSpPr>
          <a:xfrm>
            <a:off x="3" y="6200775"/>
            <a:ext cx="12204700" cy="657225"/>
            <a:chOff x="0" y="5994401"/>
            <a:chExt cx="9153525" cy="863385"/>
          </a:xfrm>
        </p:grpSpPr>
        <p:sp>
          <p:nvSpPr>
            <p:cNvPr id="17" name="Google Shape;17;p46"/>
            <p:cNvSpPr/>
            <p:nvPr/>
          </p:nvSpPr>
          <p:spPr>
            <a:xfrm>
              <a:off x="0" y="5994862"/>
              <a:ext cx="9153525" cy="862924"/>
            </a:xfrm>
            <a:prstGeom prst="rect">
              <a:avLst/>
            </a:prstGeom>
            <a:solidFill>
              <a:srgbClr val="D7D7D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8" name="Google Shape;18;p46"/>
            <p:cNvSpPr/>
            <p:nvPr/>
          </p:nvSpPr>
          <p:spPr>
            <a:xfrm>
              <a:off x="3866605" y="5994401"/>
              <a:ext cx="4869720" cy="863384"/>
            </a:xfrm>
            <a:prstGeom prst="parallelogram">
              <a:avLst>
                <a:gd name="adj" fmla="val 53837"/>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grpSp>
      <p:sp>
        <p:nvSpPr>
          <p:cNvPr id="20" name="Google Shape;20;p46"/>
          <p:cNvSpPr txBox="1">
            <a:spLocks noGrp="1"/>
          </p:cNvSpPr>
          <p:nvPr>
            <p:ph type="ctrTitle"/>
          </p:nvPr>
        </p:nvSpPr>
        <p:spPr>
          <a:xfrm>
            <a:off x="412753" y="381000"/>
            <a:ext cx="11379200" cy="146896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4000"/>
              <a:buFont typeface="Quattrocento Sans" panose="020B0502050000020003"/>
              <a:buNone/>
              <a:defRPr sz="4000" b="1">
                <a:solidFill>
                  <a:schemeClr val="dk2"/>
                </a:solidFill>
                <a:latin typeface="Quattrocento Sans" panose="020B0502050000020003"/>
                <a:ea typeface="Quattrocento Sans" panose="020B0502050000020003"/>
                <a:cs typeface="Quattrocento Sans" panose="020B0502050000020003"/>
                <a:sym typeface="Quattrocento Sans" panose="020B0502050000020003"/>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46"/>
          <p:cNvSpPr txBox="1">
            <a:spLocks noGrp="1"/>
          </p:cNvSpPr>
          <p:nvPr>
            <p:ph type="subTitle" idx="1"/>
          </p:nvPr>
        </p:nvSpPr>
        <p:spPr>
          <a:xfrm>
            <a:off x="5656313" y="6282000"/>
            <a:ext cx="3139128" cy="492443"/>
          </a:xfrm>
          <a:prstGeom prst="rect">
            <a:avLst/>
          </a:prstGeom>
          <a:noFill/>
          <a:ln>
            <a:noFill/>
          </a:ln>
        </p:spPr>
        <p:txBody>
          <a:bodyPr spcFirstLastPara="1" wrap="square" lIns="0" tIns="0" rIns="0" bIns="0" anchor="t" anchorCtr="0">
            <a:spAutoFit/>
          </a:bodyPr>
          <a:lstStyle>
            <a:lvl1pPr lvl="0" algn="l">
              <a:spcBef>
                <a:spcPts val="320"/>
              </a:spcBef>
              <a:spcAft>
                <a:spcPts val="0"/>
              </a:spcAft>
              <a:buSzPts val="1600"/>
              <a:buNone/>
              <a:defRPr sz="1600">
                <a:solidFill>
                  <a:srgbClr val="888888"/>
                </a:solidFill>
                <a:latin typeface="Quattrocento Sans" panose="020B0502050000020003"/>
                <a:ea typeface="Quattrocento Sans" panose="020B0502050000020003"/>
                <a:cs typeface="Quattrocento Sans" panose="020B0502050000020003"/>
                <a:sym typeface="Quattrocento Sans" panose="020B0502050000020003"/>
              </a:defRPr>
            </a:lvl1pPr>
            <a:lvl2pPr lvl="1" algn="ctr">
              <a:spcBef>
                <a:spcPts val="480"/>
              </a:spcBef>
              <a:spcAft>
                <a:spcPts val="0"/>
              </a:spcAft>
              <a:buSzPts val="2400"/>
              <a:buNone/>
              <a:defRPr>
                <a:solidFill>
                  <a:srgbClr val="888888"/>
                </a:solidFill>
              </a:defRPr>
            </a:lvl2pPr>
            <a:lvl3pPr lvl="2" algn="ctr">
              <a:spcBef>
                <a:spcPts val="360"/>
              </a:spcBef>
              <a:spcAft>
                <a:spcPts val="0"/>
              </a:spcAft>
              <a:buClr>
                <a:srgbClr val="888888"/>
              </a:buClr>
              <a:buSzPts val="18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2" name="Google Shape;22;p46"/>
          <p:cNvSpPr txBox="1">
            <a:spLocks noGrp="1"/>
          </p:cNvSpPr>
          <p:nvPr>
            <p:ph type="sldNum" idx="12"/>
          </p:nvPr>
        </p:nvSpPr>
        <p:spPr>
          <a:xfrm>
            <a:off x="11419840" y="6356360"/>
            <a:ext cx="696685" cy="366183"/>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lvl="1" indent="0" algn="ctr">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lvl="2" indent="0" algn="ctr">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lvl="3" indent="0" algn="ctr">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lvl="4" indent="0" algn="ctr">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lvl="5" indent="0" algn="ctr">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lvl="6" indent="0" algn="ctr">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lvl="7" indent="0" algn="ctr">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lvl="8" indent="0" algn="ctr">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ctr" rtl="0">
              <a:spcBef>
                <a:spcPts val="0"/>
              </a:spcBef>
              <a:spcAft>
                <a:spcPts val="0"/>
              </a:spcAft>
              <a:buNone/>
            </a:pPr>
            <a:fld id="{00000000-1234-1234-1234-123412341234}" type="slidenum">
              <a:rPr lang="en-US"/>
              <a:t>‹#›</a:t>
            </a:fld>
            <a:endParaRPr lang="en-US"/>
          </a:p>
        </p:txBody>
      </p:sp>
      <p:pic>
        <p:nvPicPr>
          <p:cNvPr id="1028" name="Picture 4" descr="logo">
            <a:extLst>
              <a:ext uri="{FF2B5EF4-FFF2-40B4-BE49-F238E27FC236}">
                <a16:creationId xmlns:a16="http://schemas.microsoft.com/office/drawing/2014/main" id="{DEB33077-D1F8-81E5-A430-67DABB1B976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5475" y="6356360"/>
            <a:ext cx="965371" cy="4633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23"/>
        <p:cNvGrpSpPr/>
        <p:nvPr/>
      </p:nvGrpSpPr>
      <p:grpSpPr>
        <a:xfrm>
          <a:off x="0" y="0"/>
          <a:ext cx="0" cy="0"/>
          <a:chOff x="0" y="0"/>
          <a:chExt cx="0" cy="0"/>
        </a:xfrm>
      </p:grpSpPr>
      <p:sp>
        <p:nvSpPr>
          <p:cNvPr id="24" name="Google Shape;24;p47"/>
          <p:cNvSpPr txBox="1">
            <a:spLocks noGrp="1"/>
          </p:cNvSpPr>
          <p:nvPr>
            <p:ph type="title"/>
          </p:nvPr>
        </p:nvSpPr>
        <p:spPr>
          <a:xfrm>
            <a:off x="2336800" y="198438"/>
            <a:ext cx="9448800" cy="487362"/>
          </a:xfrm>
          <a:prstGeom prst="rect">
            <a:avLst/>
          </a:prstGeom>
          <a:noFill/>
          <a:ln>
            <a:noFill/>
          </a:ln>
        </p:spPr>
        <p:txBody>
          <a:bodyPr spcFirstLastPara="1" wrap="square" lIns="91425" tIns="45700" rIns="91425" bIns="45700" anchor="t" anchorCtr="0">
            <a:normAutofit/>
          </a:bodyPr>
          <a:lstStyle>
            <a:lvl1pPr lvl="0" algn="r">
              <a:spcBef>
                <a:spcPts val="0"/>
              </a:spcBef>
              <a:spcAft>
                <a:spcPts val="0"/>
              </a:spcAft>
              <a:buClr>
                <a:schemeClr val="lt1"/>
              </a:buClr>
              <a:buSzPts val="2400"/>
              <a:buFont typeface="Quattrocento Sans" panose="020B0502050000020003"/>
              <a:buNone/>
              <a:defRPr sz="2400" b="0" i="0">
                <a:solidFill>
                  <a:schemeClr val="lt1"/>
                </a:solidFill>
                <a:latin typeface="Quattrocento Sans" panose="020B0502050000020003"/>
                <a:ea typeface="Quattrocento Sans" panose="020B0502050000020003"/>
                <a:cs typeface="Quattrocento Sans" panose="020B0502050000020003"/>
                <a:sym typeface="Quattrocento Sans" panose="020B0502050000020003"/>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7"/>
          <p:cNvSpPr txBox="1">
            <a:spLocks noGrp="1"/>
          </p:cNvSpPr>
          <p:nvPr>
            <p:ph type="body" idx="1"/>
          </p:nvPr>
        </p:nvSpPr>
        <p:spPr>
          <a:xfrm>
            <a:off x="1727200" y="1066800"/>
            <a:ext cx="10363200" cy="457200"/>
          </a:xfrm>
          <a:prstGeom prst="rect">
            <a:avLst/>
          </a:prstGeom>
          <a:noFill/>
          <a:ln>
            <a:noFill/>
          </a:ln>
        </p:spPr>
        <p:txBody>
          <a:bodyPr spcFirstLastPara="1" wrap="square" lIns="91425" tIns="45700" rIns="91425" bIns="45700" anchor="t" anchorCtr="0">
            <a:normAutofit/>
          </a:bodyPr>
          <a:lstStyle>
            <a:lvl1pPr marL="457200" lvl="0" indent="-228600" algn="l">
              <a:spcBef>
                <a:spcPts val="480"/>
              </a:spcBef>
              <a:spcAft>
                <a:spcPts val="0"/>
              </a:spcAft>
              <a:buSzPts val="2400"/>
              <a:buFont typeface="Quattrocento Sans" panose="020B0502050000020003"/>
              <a:buNone/>
              <a:defRPr sz="2400" b="1">
                <a:latin typeface="Quattrocento Sans" panose="020B0502050000020003"/>
                <a:ea typeface="Quattrocento Sans" panose="020B0502050000020003"/>
                <a:cs typeface="Quattrocento Sans" panose="020B0502050000020003"/>
                <a:sym typeface="Quattrocento Sans" panose="020B0502050000020003"/>
              </a:defRPr>
            </a:lvl1pPr>
            <a:lvl2pPr marL="914400" lvl="1" indent="-228600" algn="just">
              <a:spcBef>
                <a:spcPts val="320"/>
              </a:spcBef>
              <a:spcAft>
                <a:spcPts val="0"/>
              </a:spcAft>
              <a:buSzPts val="1600"/>
              <a:buFont typeface="Roboto" panose="02000000000000000000"/>
              <a:buNone/>
              <a:defRPr sz="1600">
                <a:latin typeface="Roboto" panose="02000000000000000000"/>
                <a:ea typeface="Roboto" panose="02000000000000000000"/>
                <a:cs typeface="Roboto" panose="02000000000000000000"/>
                <a:sym typeface="Roboto" panose="02000000000000000000"/>
              </a:defRPr>
            </a:lvl2pPr>
            <a:lvl3pPr marL="1371600" lvl="2" indent="-330200" algn="just">
              <a:spcBef>
                <a:spcPts val="320"/>
              </a:spcBef>
              <a:spcAft>
                <a:spcPts val="0"/>
              </a:spcAft>
              <a:buClr>
                <a:schemeClr val="dk1"/>
              </a:buClr>
              <a:buSzPts val="1600"/>
              <a:buChar char="•"/>
              <a:defRPr sz="1600">
                <a:latin typeface="Roboto" panose="02000000000000000000"/>
                <a:ea typeface="Roboto" panose="02000000000000000000"/>
                <a:cs typeface="Roboto" panose="02000000000000000000"/>
                <a:sym typeface="Roboto" panose="02000000000000000000"/>
              </a:defRPr>
            </a:lvl3pPr>
            <a:lvl4pPr marL="1828800" lvl="3" indent="-330200" algn="just">
              <a:spcBef>
                <a:spcPts val="320"/>
              </a:spcBef>
              <a:spcAft>
                <a:spcPts val="0"/>
              </a:spcAft>
              <a:buClr>
                <a:schemeClr val="dk1"/>
              </a:buClr>
              <a:buSzPts val="1600"/>
              <a:buFont typeface="Courier New" panose="02070309020205020404"/>
              <a:buChar char="o"/>
              <a:defRPr sz="1600">
                <a:latin typeface="Roboto" panose="02000000000000000000"/>
                <a:ea typeface="Roboto" panose="02000000000000000000"/>
                <a:cs typeface="Roboto" panose="02000000000000000000"/>
                <a:sym typeface="Roboto" panose="02000000000000000000"/>
              </a:defRPr>
            </a:lvl4pPr>
            <a:lvl5pPr marL="2286000" lvl="4" indent="-330200" algn="just">
              <a:spcBef>
                <a:spcPts val="320"/>
              </a:spcBef>
              <a:spcAft>
                <a:spcPts val="0"/>
              </a:spcAft>
              <a:buClr>
                <a:schemeClr val="dk1"/>
              </a:buClr>
              <a:buSzPts val="1600"/>
              <a:buChar char="»"/>
              <a:defRPr sz="1600">
                <a:latin typeface="Roboto" panose="02000000000000000000"/>
                <a:ea typeface="Roboto" panose="02000000000000000000"/>
                <a:cs typeface="Roboto" panose="02000000000000000000"/>
                <a:sym typeface="Roboto" panose="02000000000000000000"/>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6" name="Google Shape;26;p47"/>
          <p:cNvSpPr txBox="1">
            <a:spLocks noGrp="1"/>
          </p:cNvSpPr>
          <p:nvPr>
            <p:ph type="sldNum" idx="12"/>
          </p:nvPr>
        </p:nvSpPr>
        <p:spPr>
          <a:xfrm>
            <a:off x="-1930400" y="6477859"/>
            <a:ext cx="28448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spcBef>
                <a:spcPts val="0"/>
              </a:spcBef>
              <a:buNone/>
              <a:defRPr sz="1200">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pic>
        <p:nvPicPr>
          <p:cNvPr id="2" name="Picture 4" descr="logo">
            <a:extLst>
              <a:ext uri="{FF2B5EF4-FFF2-40B4-BE49-F238E27FC236}">
                <a16:creationId xmlns:a16="http://schemas.microsoft.com/office/drawing/2014/main" id="{98AEEE61-A762-8506-D020-E1BA8D2F354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831" y="73110"/>
            <a:ext cx="965371" cy="4633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48"/>
          <p:cNvSpPr txBox="1">
            <a:spLocks noGrp="1"/>
          </p:cNvSpPr>
          <p:nvPr>
            <p:ph type="title"/>
          </p:nvPr>
        </p:nvSpPr>
        <p:spPr>
          <a:xfrm>
            <a:off x="406400" y="254849"/>
            <a:ext cx="11379200" cy="613833"/>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48"/>
          <p:cNvSpPr txBox="1">
            <a:spLocks noGrp="1"/>
          </p:cNvSpPr>
          <p:nvPr>
            <p:ph type="body" idx="1"/>
          </p:nvPr>
        </p:nvSpPr>
        <p:spPr>
          <a:xfrm>
            <a:off x="406400" y="914400"/>
            <a:ext cx="11379200" cy="54102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SzPts val="1800"/>
              <a:buChar char="▪"/>
              <a:defRPr/>
            </a:lvl1pPr>
            <a:lvl2pPr marL="914400" lvl="1" indent="-381000" algn="l">
              <a:spcBef>
                <a:spcPts val="480"/>
              </a:spcBef>
              <a:spcAft>
                <a:spcPts val="0"/>
              </a:spcAft>
              <a:buSzPts val="24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1" name="Google Shape;31;p48"/>
          <p:cNvSpPr txBox="1">
            <a:spLocks noGrp="1"/>
          </p:cNvSpPr>
          <p:nvPr>
            <p:ph type="dt" idx="10"/>
          </p:nvPr>
        </p:nvSpPr>
        <p:spPr>
          <a:xfrm>
            <a:off x="1447799" y="6532518"/>
            <a:ext cx="2396068" cy="20417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8"/>
          <p:cNvSpPr txBox="1">
            <a:spLocks noGrp="1"/>
          </p:cNvSpPr>
          <p:nvPr>
            <p:ph type="ftr" idx="11"/>
          </p:nvPr>
        </p:nvSpPr>
        <p:spPr>
          <a:xfrm>
            <a:off x="4622800" y="6532518"/>
            <a:ext cx="3860800" cy="20417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8"/>
          <p:cNvSpPr txBox="1">
            <a:spLocks noGrp="1"/>
          </p:cNvSpPr>
          <p:nvPr>
            <p:ph type="sldNum" idx="12"/>
          </p:nvPr>
        </p:nvSpPr>
        <p:spPr>
          <a:xfrm>
            <a:off x="11633200" y="6532518"/>
            <a:ext cx="518160" cy="20417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
        <p:nvSpPr>
          <p:cNvPr id="40" name="Google Shape;40;p48"/>
          <p:cNvSpPr/>
          <p:nvPr/>
        </p:nvSpPr>
        <p:spPr>
          <a:xfrm>
            <a:off x="0" y="830800"/>
            <a:ext cx="12192002" cy="45719"/>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 name="Picture 4" descr="logo">
            <a:extLst>
              <a:ext uri="{FF2B5EF4-FFF2-40B4-BE49-F238E27FC236}">
                <a16:creationId xmlns:a16="http://schemas.microsoft.com/office/drawing/2014/main" id="{63F72376-7FC5-0461-4789-06F20E71395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5475" y="6356360"/>
            <a:ext cx="965371" cy="4633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5"/>
          <p:cNvSpPr txBox="1">
            <a:spLocks noGrp="1"/>
          </p:cNvSpPr>
          <p:nvPr>
            <p:ph type="title"/>
          </p:nvPr>
        </p:nvSpPr>
        <p:spPr>
          <a:xfrm>
            <a:off x="406400" y="275170"/>
            <a:ext cx="11480800" cy="613833"/>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chemeClr val="dk2"/>
              </a:buClr>
              <a:buSzPts val="2800"/>
              <a:buFont typeface="Quattrocento Sans" panose="020B0502050000020003"/>
              <a:buNone/>
              <a:defRPr sz="2800" b="1" i="0" u="none" strike="noStrike" cap="none">
                <a:solidFill>
                  <a:schemeClr val="dk2"/>
                </a:solidFill>
                <a:latin typeface="Quattrocento Sans" panose="020B0502050000020003"/>
                <a:ea typeface="Quattrocento Sans" panose="020B0502050000020003"/>
                <a:cs typeface="Quattrocento Sans" panose="020B0502050000020003"/>
                <a:sym typeface="Quattrocento Sans" panose="020B05020500000200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5"/>
          <p:cNvSpPr txBox="1">
            <a:spLocks noGrp="1"/>
          </p:cNvSpPr>
          <p:nvPr>
            <p:ph type="body" idx="1"/>
          </p:nvPr>
        </p:nvSpPr>
        <p:spPr>
          <a:xfrm>
            <a:off x="406400" y="914400"/>
            <a:ext cx="11480800" cy="5564777"/>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2"/>
              </a:buClr>
              <a:buSzPts val="2400"/>
              <a:buFont typeface="Noto Sans Symbols"/>
              <a:buChar char="▪"/>
              <a:defRPr sz="2400" b="0" i="0" u="none" strike="noStrike" cap="none">
                <a:solidFill>
                  <a:schemeClr val="dk1"/>
                </a:solidFill>
                <a:latin typeface="Quattrocento Sans" panose="020B0502050000020003"/>
                <a:ea typeface="Quattrocento Sans" panose="020B0502050000020003"/>
                <a:cs typeface="Quattrocento Sans" panose="020B0502050000020003"/>
                <a:sym typeface="Quattrocento Sans" panose="020B0502050000020003"/>
              </a:defRPr>
            </a:lvl1pPr>
            <a:lvl2pPr marL="914400" marR="0" lvl="1" indent="-381000" algn="l" rtl="0">
              <a:spcBef>
                <a:spcPts val="480"/>
              </a:spcBef>
              <a:spcAft>
                <a:spcPts val="0"/>
              </a:spcAft>
              <a:buClr>
                <a:schemeClr val="accent1"/>
              </a:buClr>
              <a:buSzPts val="2400"/>
              <a:buFont typeface="Arial" panose="020B0604020202020204"/>
              <a:buChar char="•"/>
              <a:defRPr sz="2400" b="0" i="0" u="none" strike="noStrike" cap="none">
                <a:solidFill>
                  <a:schemeClr val="dk1"/>
                </a:solidFill>
                <a:latin typeface="Quattrocento Sans" panose="020B0502050000020003"/>
                <a:ea typeface="Quattrocento Sans" panose="020B0502050000020003"/>
                <a:cs typeface="Quattrocento Sans" panose="020B0502050000020003"/>
                <a:sym typeface="Quattrocento Sans" panose="020B0502050000020003"/>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Quattrocento Sans" panose="020B0502050000020003"/>
                <a:ea typeface="Quattrocento Sans" panose="020B0502050000020003"/>
                <a:cs typeface="Quattrocento Sans" panose="020B0502050000020003"/>
                <a:sym typeface="Quattrocento Sans" panose="020B0502050000020003"/>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Quattrocento Sans" panose="020B0502050000020003"/>
                <a:ea typeface="Quattrocento Sans" panose="020B0502050000020003"/>
                <a:cs typeface="Quattrocento Sans" panose="020B0502050000020003"/>
                <a:sym typeface="Quattrocento Sans" panose="020B0502050000020003"/>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Quattrocento Sans" panose="020B0502050000020003"/>
                <a:ea typeface="Quattrocento Sans" panose="020B0502050000020003"/>
                <a:cs typeface="Quattrocento Sans" panose="020B0502050000020003"/>
                <a:sym typeface="Quattrocento Sans" panose="020B0502050000020003"/>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45"/>
          <p:cNvSpPr txBox="1">
            <a:spLocks noGrp="1"/>
          </p:cNvSpPr>
          <p:nvPr>
            <p:ph type="dt" idx="10"/>
          </p:nvPr>
        </p:nvSpPr>
        <p:spPr>
          <a:xfrm>
            <a:off x="406400" y="6570618"/>
            <a:ext cx="2844800" cy="204176"/>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3" name="Google Shape;13;p45"/>
          <p:cNvSpPr txBox="1">
            <a:spLocks noGrp="1"/>
          </p:cNvSpPr>
          <p:nvPr>
            <p:ph type="ftr" idx="11"/>
          </p:nvPr>
        </p:nvSpPr>
        <p:spPr>
          <a:xfrm>
            <a:off x="4165600" y="6570618"/>
            <a:ext cx="3860800" cy="204176"/>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4" name="Google Shape;14;p45"/>
          <p:cNvSpPr txBox="1">
            <a:spLocks noGrp="1"/>
          </p:cNvSpPr>
          <p:nvPr>
            <p:ph type="sldNum" idx="12"/>
          </p:nvPr>
        </p:nvSpPr>
        <p:spPr>
          <a:xfrm>
            <a:off x="9042400" y="6570618"/>
            <a:ext cx="2844800" cy="204176"/>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7" name="Google Shape;47;p1"/>
          <p:cNvSpPr txBox="1"/>
          <p:nvPr/>
        </p:nvSpPr>
        <p:spPr>
          <a:xfrm>
            <a:off x="5867400" y="6324600"/>
            <a:ext cx="5197764" cy="3670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dirty="0" err="1">
                <a:solidFill>
                  <a:schemeClr val="dk1"/>
                </a:solidFill>
                <a:latin typeface="Calibri" panose="020F0502020204030204"/>
                <a:ea typeface="Calibri" panose="020F0502020204030204"/>
                <a:cs typeface="Calibri" panose="020F0502020204030204"/>
                <a:sym typeface="Calibri" panose="020F0502020204030204"/>
              </a:rPr>
              <a:t>Bài</a:t>
            </a:r>
            <a:r>
              <a:rPr lang="en-US" sz="18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t> 02: </a:t>
            </a:r>
            <a:r>
              <a:rPr lang="en-US" sz="1800" b="0" i="0" u="none" strike="noStrike" cap="none" dirty="0" err="1">
                <a:solidFill>
                  <a:schemeClr val="dk1"/>
                </a:solidFill>
                <a:latin typeface="Calibri" panose="020F0502020204030204"/>
                <a:ea typeface="Calibri" panose="020F0502020204030204"/>
                <a:cs typeface="Calibri" panose="020F0502020204030204"/>
                <a:sym typeface="Calibri" panose="020F0502020204030204"/>
              </a:rPr>
              <a:t>Trải</a:t>
            </a:r>
            <a:r>
              <a:rPr lang="en-US" sz="18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t> </a:t>
            </a:r>
            <a:r>
              <a:rPr lang="en-US" sz="1800" b="0" i="0" u="none" strike="noStrike" cap="none" dirty="0" err="1">
                <a:solidFill>
                  <a:schemeClr val="dk1"/>
                </a:solidFill>
                <a:latin typeface="Calibri" panose="020F0502020204030204"/>
                <a:ea typeface="Calibri" panose="020F0502020204030204"/>
                <a:cs typeface="Calibri" panose="020F0502020204030204"/>
                <a:sym typeface="Calibri" panose="020F0502020204030204"/>
              </a:rPr>
              <a:t>nghiệm</a:t>
            </a:r>
            <a:r>
              <a:rPr lang="en-US" sz="18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t> </a:t>
            </a:r>
            <a:r>
              <a:rPr lang="en-US" sz="1800" b="0" i="0" u="none" strike="noStrike" cap="none" dirty="0" err="1">
                <a:solidFill>
                  <a:schemeClr val="dk1"/>
                </a:solidFill>
                <a:latin typeface="Calibri" panose="020F0502020204030204"/>
                <a:ea typeface="Calibri" panose="020F0502020204030204"/>
                <a:cs typeface="Calibri" panose="020F0502020204030204"/>
                <a:sym typeface="Calibri" panose="020F0502020204030204"/>
              </a:rPr>
              <a:t>người</a:t>
            </a:r>
            <a:r>
              <a:rPr lang="en-US" sz="18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t> </a:t>
            </a:r>
            <a:r>
              <a:rPr lang="en-US" sz="1800" b="0" i="0" u="none" strike="noStrike" cap="none" dirty="0" err="1">
                <a:solidFill>
                  <a:schemeClr val="dk1"/>
                </a:solidFill>
                <a:latin typeface="Calibri" panose="020F0502020204030204"/>
                <a:ea typeface="Calibri" panose="020F0502020204030204"/>
                <a:cs typeface="Calibri" panose="020F0502020204030204"/>
                <a:sym typeface="Calibri" panose="020F0502020204030204"/>
              </a:rPr>
              <a:t>dùng</a:t>
            </a:r>
            <a:endParaRPr sz="180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8" name="Google Shape;48;p1"/>
          <p:cNvSpPr txBox="1">
            <a:spLocks noGrp="1"/>
          </p:cNvSpPr>
          <p:nvPr>
            <p:ph type="subTitle" idx="1"/>
          </p:nvPr>
        </p:nvSpPr>
        <p:spPr>
          <a:xfrm>
            <a:off x="8458200" y="609600"/>
            <a:ext cx="3200400" cy="45720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SzPts val="4000"/>
              <a:buNone/>
            </a:pPr>
            <a:r>
              <a:rPr lang="en-US" sz="4000" b="1" dirty="0" err="1">
                <a:solidFill>
                  <a:srgbClr val="8565E5"/>
                </a:solidFill>
              </a:rPr>
              <a:t>Bài</a:t>
            </a:r>
            <a:r>
              <a:rPr lang="en-US" sz="4000" b="1" dirty="0">
                <a:solidFill>
                  <a:srgbClr val="8565E5"/>
                </a:solidFill>
              </a:rPr>
              <a:t> 02:</a:t>
            </a:r>
            <a:endParaRPr sz="4000" b="1" dirty="0">
              <a:solidFill>
                <a:srgbClr val="8565E5"/>
              </a:solidFill>
            </a:endParaRPr>
          </a:p>
          <a:p>
            <a:pPr marL="0" lvl="0" indent="0" algn="ctr" rtl="0">
              <a:spcBef>
                <a:spcPts val="800"/>
              </a:spcBef>
              <a:spcAft>
                <a:spcPts val="0"/>
              </a:spcAft>
              <a:buSzPts val="4000"/>
              <a:buNone/>
            </a:pPr>
            <a:r>
              <a:rPr lang="en-US" sz="4000" b="1" dirty="0" err="1">
                <a:solidFill>
                  <a:srgbClr val="8565E5"/>
                </a:solidFill>
              </a:rPr>
              <a:t>Trải</a:t>
            </a:r>
            <a:endParaRPr lang="en-US" sz="4000" b="1" dirty="0">
              <a:solidFill>
                <a:srgbClr val="8565E5"/>
              </a:solidFill>
            </a:endParaRPr>
          </a:p>
          <a:p>
            <a:pPr marL="0" lvl="0" indent="0" algn="ctr" rtl="0">
              <a:spcBef>
                <a:spcPts val="800"/>
              </a:spcBef>
              <a:spcAft>
                <a:spcPts val="0"/>
              </a:spcAft>
              <a:buSzPts val="4000"/>
              <a:buNone/>
            </a:pPr>
            <a:r>
              <a:rPr lang="en-US" sz="4000" b="1" dirty="0" err="1">
                <a:solidFill>
                  <a:srgbClr val="8565E5"/>
                </a:solidFill>
              </a:rPr>
              <a:t>Nghiệm</a:t>
            </a:r>
            <a:endParaRPr lang="en-US" sz="4000" b="1" dirty="0">
              <a:solidFill>
                <a:srgbClr val="8565E5"/>
              </a:solidFill>
            </a:endParaRPr>
          </a:p>
          <a:p>
            <a:pPr marL="0" lvl="0" indent="0" algn="ctr" rtl="0">
              <a:spcBef>
                <a:spcPts val="800"/>
              </a:spcBef>
              <a:spcAft>
                <a:spcPts val="0"/>
              </a:spcAft>
              <a:buSzPts val="4000"/>
              <a:buNone/>
            </a:pPr>
            <a:r>
              <a:rPr lang="en-US" sz="4000" b="1" dirty="0" err="1">
                <a:solidFill>
                  <a:srgbClr val="8565E5"/>
                </a:solidFill>
              </a:rPr>
              <a:t>Người</a:t>
            </a:r>
            <a:endParaRPr lang="en-US" sz="4000" b="1" dirty="0">
              <a:solidFill>
                <a:srgbClr val="8565E5"/>
              </a:solidFill>
            </a:endParaRPr>
          </a:p>
          <a:p>
            <a:pPr marL="0" lvl="0" indent="0" algn="ctr" rtl="0">
              <a:spcBef>
                <a:spcPts val="800"/>
              </a:spcBef>
              <a:spcAft>
                <a:spcPts val="0"/>
              </a:spcAft>
              <a:buSzPts val="4000"/>
              <a:buNone/>
            </a:pPr>
            <a:r>
              <a:rPr lang="en-US" sz="4000" b="1" dirty="0" err="1">
                <a:solidFill>
                  <a:srgbClr val="8565E5"/>
                </a:solidFill>
              </a:rPr>
              <a:t>dùng</a:t>
            </a:r>
            <a:endParaRPr sz="4000" b="1" dirty="0">
              <a:solidFill>
                <a:srgbClr val="8565E5"/>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8215" y="-348615"/>
            <a:ext cx="6167755" cy="61677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2"/>
          <p:cNvSpPr/>
          <p:nvPr/>
        </p:nvSpPr>
        <p:spPr>
          <a:xfrm>
            <a:off x="685799" y="1547784"/>
            <a:ext cx="11529291" cy="4989541"/>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55" name="Google Shape;55;p2"/>
          <p:cNvSpPr/>
          <p:nvPr/>
        </p:nvSpPr>
        <p:spPr>
          <a:xfrm>
            <a:off x="685800" y="1199805"/>
            <a:ext cx="3276600" cy="695960"/>
          </a:xfrm>
          <a:prstGeom prst="rightArrow">
            <a:avLst>
              <a:gd name="adj1" fmla="val 100000"/>
              <a:gd name="adj2" fmla="val 50000"/>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56" name="Google Shape;56;p2"/>
          <p:cNvSpPr txBox="1">
            <a:spLocks noGrp="1"/>
          </p:cNvSpPr>
          <p:nvPr>
            <p:ph type="body" idx="1"/>
          </p:nvPr>
        </p:nvSpPr>
        <p:spPr>
          <a:xfrm>
            <a:off x="1000760" y="2124365"/>
            <a:ext cx="9491749" cy="3809365"/>
          </a:xfrm>
          <a:prstGeom prst="rect">
            <a:avLst/>
          </a:prstGeom>
          <a:noFill/>
          <a:ln>
            <a:noFill/>
          </a:ln>
        </p:spPr>
        <p:txBody>
          <a:bodyPr spcFirstLastPara="1" wrap="square" lIns="91425" tIns="45700" rIns="91425" bIns="45700" anchor="t" anchorCtr="0">
            <a:noAutofit/>
          </a:bodyPr>
          <a:lstStyle/>
          <a:p>
            <a:pPr lvl="0" indent="-457200" algn="just">
              <a:lnSpc>
                <a:spcPct val="120000"/>
              </a:lnSpc>
              <a:spcBef>
                <a:spcPts val="0"/>
              </a:spcBef>
              <a:buClr>
                <a:srgbClr val="DD7471"/>
              </a:buClr>
              <a:buFont typeface="Noto Sans Symbols"/>
              <a:buChar char="✔"/>
            </a:pPr>
            <a:r>
              <a:rPr lang="en-US" sz="2800" b="0" dirty="0">
                <a:solidFill>
                  <a:srgbClr val="262626"/>
                </a:solidFill>
                <a:latin typeface="Calibri" panose="020F0502020204030204" pitchFamily="34" charset="0"/>
                <a:cs typeface="Calibri" panose="020F0502020204030204" pitchFamily="34" charset="0"/>
              </a:rPr>
              <a:t>Hiểu UX Insight là gì?</a:t>
            </a:r>
          </a:p>
          <a:p>
            <a:pPr lvl="0" indent="-457200" algn="just">
              <a:lnSpc>
                <a:spcPct val="120000"/>
              </a:lnSpc>
              <a:spcBef>
                <a:spcPts val="0"/>
              </a:spcBef>
              <a:buClr>
                <a:srgbClr val="DD7471"/>
              </a:buClr>
              <a:buFont typeface="Noto Sans Symbols"/>
              <a:buChar char="✔"/>
            </a:pPr>
            <a:r>
              <a:rPr lang="en-US" sz="2800" b="0" dirty="0" err="1">
                <a:solidFill>
                  <a:srgbClr val="262626"/>
                </a:solidFill>
                <a:latin typeface="Calibri" panose="020F0502020204030204" pitchFamily="34" charset="0"/>
                <a:cs typeface="Calibri" panose="020F0502020204030204" pitchFamily="34" charset="0"/>
              </a:rPr>
              <a:t>Hiểu rõ thiết</a:t>
            </a:r>
            <a:r>
              <a:rPr lang="en-US" sz="2800" b="0" dirty="0">
                <a:solidFill>
                  <a:srgbClr val="262626"/>
                </a:solidFill>
                <a:latin typeface="Calibri" panose="020F0502020204030204" pitchFamily="34" charset="0"/>
                <a:cs typeface="Calibri" panose="020F0502020204030204" pitchFamily="34" charset="0"/>
              </a:rPr>
              <a:t> </a:t>
            </a:r>
            <a:r>
              <a:rPr lang="en-US" sz="2800" b="0" dirty="0" err="1">
                <a:solidFill>
                  <a:srgbClr val="262626"/>
                </a:solidFill>
                <a:latin typeface="Calibri" panose="020F0502020204030204" pitchFamily="34" charset="0"/>
                <a:cs typeface="Calibri" panose="020F0502020204030204" pitchFamily="34" charset="0"/>
              </a:rPr>
              <a:t>kế</a:t>
            </a:r>
            <a:r>
              <a:rPr lang="en-US" sz="2800" b="0" dirty="0">
                <a:solidFill>
                  <a:srgbClr val="262626"/>
                </a:solidFill>
                <a:latin typeface="Calibri" panose="020F0502020204030204" pitchFamily="34" charset="0"/>
                <a:cs typeface="Calibri" panose="020F0502020204030204" pitchFamily="34" charset="0"/>
              </a:rPr>
              <a:t> </a:t>
            </a:r>
            <a:r>
              <a:rPr lang="en-US" sz="2800" b="0" dirty="0" err="1">
                <a:solidFill>
                  <a:srgbClr val="262626"/>
                </a:solidFill>
                <a:latin typeface="Calibri" panose="020F0502020204030204" pitchFamily="34" charset="0"/>
                <a:cs typeface="Calibri" panose="020F0502020204030204" pitchFamily="34" charset="0"/>
              </a:rPr>
              <a:t>người</a:t>
            </a:r>
            <a:r>
              <a:rPr lang="en-US" sz="2800" b="0" dirty="0">
                <a:solidFill>
                  <a:srgbClr val="262626"/>
                </a:solidFill>
                <a:latin typeface="Calibri" panose="020F0502020204030204" pitchFamily="34" charset="0"/>
                <a:cs typeface="Calibri" panose="020F0502020204030204" pitchFamily="34" charset="0"/>
              </a:rPr>
              <a:t> </a:t>
            </a:r>
            <a:r>
              <a:rPr lang="en-US" sz="2800" b="0" dirty="0" err="1">
                <a:solidFill>
                  <a:srgbClr val="262626"/>
                </a:solidFill>
                <a:latin typeface="Calibri" panose="020F0502020204030204" pitchFamily="34" charset="0"/>
                <a:cs typeface="Calibri" panose="020F0502020204030204" pitchFamily="34" charset="0"/>
              </a:rPr>
              <a:t>dùng</a:t>
            </a:r>
            <a:r>
              <a:rPr lang="en-US" sz="2800" b="0" dirty="0">
                <a:solidFill>
                  <a:srgbClr val="262626"/>
                </a:solidFill>
                <a:latin typeface="Calibri" panose="020F0502020204030204" pitchFamily="34" charset="0"/>
                <a:cs typeface="Calibri" panose="020F0502020204030204" pitchFamily="34" charset="0"/>
              </a:rPr>
              <a:t> </a:t>
            </a:r>
            <a:r>
              <a:rPr lang="en-US" sz="2800" b="0" dirty="0" err="1">
                <a:solidFill>
                  <a:srgbClr val="262626"/>
                </a:solidFill>
                <a:latin typeface="Calibri" panose="020F0502020204030204" pitchFamily="34" charset="0"/>
                <a:cs typeface="Calibri" panose="020F0502020204030204" pitchFamily="34" charset="0"/>
              </a:rPr>
              <a:t>làm</a:t>
            </a:r>
            <a:r>
              <a:rPr lang="en-US" sz="2800" b="0" dirty="0">
                <a:solidFill>
                  <a:srgbClr val="262626"/>
                </a:solidFill>
                <a:latin typeface="Calibri" panose="020F0502020204030204" pitchFamily="34" charset="0"/>
                <a:cs typeface="Calibri" panose="020F0502020204030204" pitchFamily="34" charset="0"/>
              </a:rPr>
              <a:t> </a:t>
            </a:r>
            <a:r>
              <a:rPr lang="en-US" sz="2800" b="0" dirty="0" err="1">
                <a:solidFill>
                  <a:srgbClr val="262626"/>
                </a:solidFill>
                <a:latin typeface="Calibri" panose="020F0502020204030204" pitchFamily="34" charset="0"/>
                <a:cs typeface="Calibri" panose="020F0502020204030204" pitchFamily="34" charset="0"/>
              </a:rPr>
              <a:t>trung</a:t>
            </a:r>
            <a:r>
              <a:rPr lang="en-US" sz="2800" b="0" dirty="0">
                <a:solidFill>
                  <a:srgbClr val="262626"/>
                </a:solidFill>
                <a:latin typeface="Calibri" panose="020F0502020204030204" pitchFamily="34" charset="0"/>
                <a:cs typeface="Calibri" panose="020F0502020204030204" pitchFamily="34" charset="0"/>
              </a:rPr>
              <a:t> </a:t>
            </a:r>
            <a:r>
              <a:rPr lang="en-US" sz="2800" b="0" dirty="0" err="1">
                <a:solidFill>
                  <a:srgbClr val="262626"/>
                </a:solidFill>
                <a:latin typeface="Calibri" panose="020F0502020204030204" pitchFamily="34" charset="0"/>
                <a:cs typeface="Calibri" panose="020F0502020204030204" pitchFamily="34" charset="0"/>
              </a:rPr>
              <a:t>tâm</a:t>
            </a:r>
            <a:endParaRPr lang="vi-VN" sz="2800" b="0" dirty="0">
              <a:solidFill>
                <a:srgbClr val="262626"/>
              </a:solidFill>
              <a:latin typeface="Calibri" panose="020F0502020204030204" pitchFamily="34" charset="0"/>
              <a:cs typeface="Calibri" panose="020F0502020204030204" pitchFamily="34" charset="0"/>
            </a:endParaRPr>
          </a:p>
          <a:p>
            <a:pPr indent="-457200" algn="just">
              <a:lnSpc>
                <a:spcPct val="120000"/>
              </a:lnSpc>
              <a:spcBef>
                <a:spcPts val="0"/>
              </a:spcBef>
              <a:buClr>
                <a:srgbClr val="DD7471"/>
              </a:buClr>
              <a:buFont typeface="Noto Sans Symbols"/>
              <a:buChar char="✔"/>
            </a:pPr>
            <a:r>
              <a:rPr lang="en-US" sz="2800" b="0" dirty="0" err="1">
                <a:solidFill>
                  <a:srgbClr val="262626"/>
                </a:solidFill>
                <a:latin typeface="Calibri" panose="020F0502020204030204" pitchFamily="34" charset="0"/>
                <a:cs typeface="Calibri" panose="020F0502020204030204" pitchFamily="34" charset="0"/>
              </a:rPr>
              <a:t>Hiểu được </a:t>
            </a:r>
            <a:r>
              <a:rPr lang="en-US" sz="2800" dirty="0" err="1">
                <a:solidFill>
                  <a:srgbClr val="262626"/>
                </a:solidFill>
                <a:latin typeface="Calibri" panose="020F0502020204030204" pitchFamily="34" charset="0"/>
                <a:cs typeface="Calibri" panose="020F0502020204030204" pitchFamily="34" charset="0"/>
              </a:rPr>
              <a:t>phương</a:t>
            </a:r>
            <a:r>
              <a:rPr lang="en-US" sz="2800" dirty="0">
                <a:solidFill>
                  <a:srgbClr val="262626"/>
                </a:solidFill>
                <a:latin typeface="Calibri" panose="020F0502020204030204" pitchFamily="34" charset="0"/>
                <a:cs typeface="Calibri" panose="020F0502020204030204" pitchFamily="34" charset="0"/>
              </a:rPr>
              <a:t> </a:t>
            </a:r>
            <a:r>
              <a:rPr lang="en-US" sz="2800" dirty="0" err="1">
                <a:solidFill>
                  <a:srgbClr val="262626"/>
                </a:solidFill>
                <a:latin typeface="Calibri" panose="020F0502020204030204" pitchFamily="34" charset="0"/>
                <a:cs typeface="Calibri" panose="020F0502020204030204" pitchFamily="34" charset="0"/>
              </a:rPr>
              <a:t>pháp</a:t>
            </a:r>
            <a:r>
              <a:rPr lang="en-US" sz="2800" dirty="0">
                <a:solidFill>
                  <a:srgbClr val="262626"/>
                </a:solidFill>
                <a:latin typeface="Calibri" panose="020F0502020204030204" pitchFamily="34" charset="0"/>
                <a:cs typeface="Calibri" panose="020F0502020204030204" pitchFamily="34" charset="0"/>
              </a:rPr>
              <a:t> </a:t>
            </a:r>
            <a:r>
              <a:rPr lang="en-US" sz="2800" dirty="0" err="1">
                <a:solidFill>
                  <a:srgbClr val="262626"/>
                </a:solidFill>
                <a:latin typeface="Calibri" panose="020F0502020204030204" pitchFamily="34" charset="0"/>
                <a:cs typeface="Calibri" panose="020F0502020204030204" pitchFamily="34" charset="0"/>
              </a:rPr>
              <a:t>nghiên</a:t>
            </a:r>
            <a:r>
              <a:rPr lang="en-US" sz="2800" dirty="0">
                <a:solidFill>
                  <a:srgbClr val="262626"/>
                </a:solidFill>
                <a:latin typeface="Calibri" panose="020F0502020204030204" pitchFamily="34" charset="0"/>
                <a:cs typeface="Calibri" panose="020F0502020204030204" pitchFamily="34" charset="0"/>
              </a:rPr>
              <a:t> </a:t>
            </a:r>
            <a:r>
              <a:rPr lang="en-US" sz="2800" dirty="0" err="1">
                <a:solidFill>
                  <a:srgbClr val="262626"/>
                </a:solidFill>
                <a:latin typeface="Calibri" panose="020F0502020204030204" pitchFamily="34" charset="0"/>
                <a:cs typeface="Calibri" panose="020F0502020204030204" pitchFamily="34" charset="0"/>
              </a:rPr>
              <a:t>cứu </a:t>
            </a:r>
            <a:r>
              <a:rPr lang="en-US" sz="2800" b="0" dirty="0" err="1">
                <a:solidFill>
                  <a:srgbClr val="262626"/>
                </a:solidFill>
                <a:latin typeface="Calibri" panose="020F0502020204030204" pitchFamily="34" charset="0"/>
                <a:cs typeface="Calibri" panose="020F0502020204030204" pitchFamily="34" charset="0"/>
              </a:rPr>
              <a:t>người dùng</a:t>
            </a:r>
          </a:p>
          <a:p>
            <a:pPr indent="-457200">
              <a:lnSpc>
                <a:spcPct val="120000"/>
              </a:lnSpc>
              <a:spcBef>
                <a:spcPts val="0"/>
              </a:spcBef>
              <a:buClr>
                <a:srgbClr val="DD7471"/>
              </a:buClr>
              <a:buFont typeface="Noto Sans Symbols"/>
              <a:buChar char="✔"/>
            </a:pPr>
            <a:r>
              <a:rPr lang="en-US" sz="2800" b="0" dirty="0" err="1">
                <a:latin typeface="Calibri" panose="020F0502020204030204" pitchFamily="34" charset="0"/>
                <a:cs typeface="Calibri" panose="020F0502020204030204" pitchFamily="34" charset="0"/>
              </a:rPr>
              <a:t>Hiểu</a:t>
            </a:r>
            <a:r>
              <a:rPr lang="en-US" sz="2800" b="0" dirty="0">
                <a:latin typeface="Calibri" panose="020F0502020204030204" pitchFamily="34" charset="0"/>
                <a:cs typeface="Calibri" panose="020F0502020204030204" pitchFamily="34" charset="0"/>
              </a:rPr>
              <a:t> được cách nghiên cứu </a:t>
            </a:r>
            <a:r>
              <a:rPr lang="en-US" sz="2800" dirty="0">
                <a:latin typeface="Calibri" panose="020F0502020204030204" pitchFamily="34" charset="0"/>
                <a:cs typeface="Calibri" panose="020F0502020204030204" pitchFamily="34" charset="0"/>
              </a:rPr>
              <a:t>hành vi người dùng</a:t>
            </a:r>
          </a:p>
          <a:p>
            <a:pPr indent="-457200">
              <a:lnSpc>
                <a:spcPct val="120000"/>
              </a:lnSpc>
              <a:spcBef>
                <a:spcPts val="0"/>
              </a:spcBef>
              <a:buClr>
                <a:srgbClr val="DD7471"/>
              </a:buClr>
              <a:buFont typeface="Noto Sans Symbols"/>
              <a:buChar char="✔"/>
            </a:pPr>
            <a:r>
              <a:rPr lang="en-US" sz="2800" b="0" dirty="0">
                <a:latin typeface="Calibri" panose="020F0502020204030204" pitchFamily="34" charset="0"/>
                <a:cs typeface="Calibri" panose="020F0502020204030204" pitchFamily="34" charset="0"/>
              </a:rPr>
              <a:t>Hiểu và thiết kế wireframe với figma</a:t>
            </a:r>
          </a:p>
          <a:p>
            <a:pPr indent="-457200">
              <a:lnSpc>
                <a:spcPct val="120000"/>
              </a:lnSpc>
              <a:spcBef>
                <a:spcPts val="0"/>
              </a:spcBef>
              <a:buClr>
                <a:srgbClr val="DD7471"/>
              </a:buClr>
              <a:buFont typeface="Noto Sans Symbols"/>
              <a:buChar char="✔"/>
            </a:pPr>
            <a:endParaRPr lang="en-US" sz="2800" b="0" dirty="0">
              <a:latin typeface="Calibri" panose="020F0502020204030204" pitchFamily="34" charset="0"/>
              <a:cs typeface="Calibri" panose="020F0502020204030204" pitchFamily="34" charset="0"/>
            </a:endParaRPr>
          </a:p>
          <a:p>
            <a:pPr lvl="0" indent="-457200" algn="just">
              <a:lnSpc>
                <a:spcPct val="120000"/>
              </a:lnSpc>
              <a:spcBef>
                <a:spcPts val="0"/>
              </a:spcBef>
              <a:buClr>
                <a:srgbClr val="DD7471"/>
              </a:buClr>
              <a:buFont typeface="Noto Sans Symbols"/>
              <a:buChar char="✔"/>
            </a:pPr>
            <a:endParaRPr lang="vi-VN" sz="2800" b="0" dirty="0">
              <a:solidFill>
                <a:srgbClr val="262626"/>
              </a:solidFill>
              <a:latin typeface="Calibri" panose="020F0502020204030204" pitchFamily="34" charset="0"/>
              <a:cs typeface="Calibri" panose="020F0502020204030204" pitchFamily="34" charset="0"/>
            </a:endParaRPr>
          </a:p>
        </p:txBody>
      </p:sp>
      <p:sp>
        <p:nvSpPr>
          <p:cNvPr id="58" name="Google Shape;58;p2"/>
          <p:cNvSpPr txBox="1"/>
          <p:nvPr/>
        </p:nvSpPr>
        <p:spPr>
          <a:xfrm>
            <a:off x="1000760" y="1319185"/>
            <a:ext cx="2809240" cy="457200"/>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None/>
            </a:pPr>
            <a:r>
              <a:rPr lang="en-US" sz="2400" b="1">
                <a:solidFill>
                  <a:schemeClr val="lt1"/>
                </a:solidFill>
                <a:latin typeface="Quattrocento Sans" panose="020B0502050000020003"/>
                <a:ea typeface="Quattrocento Sans" panose="020B0502050000020003"/>
                <a:cs typeface="Quattrocento Sans" panose="020B0502050000020003"/>
                <a:sym typeface="Quattrocento Sans" panose="020B0502050000020003"/>
              </a:rPr>
              <a:t>Mục tiêu bài học</a:t>
            </a:r>
            <a:endParaRPr sz="2400" b="1">
              <a:solidFill>
                <a:schemeClr val="lt1"/>
              </a:solidFill>
              <a:latin typeface="Quattrocento Sans" panose="020B0502050000020003"/>
              <a:ea typeface="Quattrocento Sans" panose="020B0502050000020003"/>
              <a:cs typeface="Quattrocento Sans" panose="020B0502050000020003"/>
              <a:sym typeface="Quattrocento Sans" panose="020B0502050000020003"/>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3"/>
          <p:cNvSpPr/>
          <p:nvPr/>
        </p:nvSpPr>
        <p:spPr>
          <a:xfrm>
            <a:off x="599440" y="1676399"/>
            <a:ext cx="10456487" cy="4739497"/>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66" name="Google Shape;66;p3"/>
          <p:cNvSpPr/>
          <p:nvPr/>
        </p:nvSpPr>
        <p:spPr>
          <a:xfrm>
            <a:off x="599440" y="1328420"/>
            <a:ext cx="3276600" cy="695960"/>
          </a:xfrm>
          <a:prstGeom prst="rightArrow">
            <a:avLst>
              <a:gd name="adj1" fmla="val 100000"/>
              <a:gd name="adj2" fmla="val 50000"/>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67" name="Google Shape;67;p3"/>
          <p:cNvSpPr txBox="1">
            <a:spLocks noGrp="1"/>
          </p:cNvSpPr>
          <p:nvPr>
            <p:ph type="body" idx="1"/>
          </p:nvPr>
        </p:nvSpPr>
        <p:spPr>
          <a:xfrm>
            <a:off x="828039" y="2176779"/>
            <a:ext cx="9221125" cy="3995421"/>
          </a:xfrm>
          <a:prstGeom prst="rect">
            <a:avLst/>
          </a:prstGeom>
          <a:noFill/>
          <a:ln>
            <a:noFill/>
          </a:ln>
        </p:spPr>
        <p:txBody>
          <a:bodyPr spcFirstLastPara="1" wrap="square" lIns="91425" tIns="45700" rIns="91425" bIns="45700" anchor="t" anchorCtr="0">
            <a:noAutofit/>
          </a:bodyPr>
          <a:lstStyle/>
          <a:p>
            <a:pPr lvl="0" indent="-457200" algn="just">
              <a:lnSpc>
                <a:spcPct val="120000"/>
              </a:lnSpc>
              <a:spcBef>
                <a:spcPts val="0"/>
              </a:spcBef>
              <a:buClr>
                <a:srgbClr val="DD7471"/>
              </a:buClr>
              <a:buFont typeface="Noto Sans Symbols"/>
              <a:buChar char="✔"/>
            </a:pPr>
            <a:r>
              <a:rPr lang="en-US" sz="2800" b="0" dirty="0">
                <a:solidFill>
                  <a:srgbClr val="262626"/>
                </a:solidFill>
                <a:latin typeface="Calibri" panose="020F0502020204030204" pitchFamily="34" charset="0"/>
                <a:cs typeface="Calibri" panose="020F0502020204030204" pitchFamily="34" charset="0"/>
                <a:sym typeface="+mn-ea"/>
              </a:rPr>
              <a:t>UX Insight là gì?</a:t>
            </a:r>
            <a:endParaRPr lang="en-US" sz="2800" b="0" dirty="0">
              <a:solidFill>
                <a:srgbClr val="262626"/>
              </a:solidFill>
              <a:latin typeface="Calibri" panose="020F0502020204030204" pitchFamily="34" charset="0"/>
              <a:cs typeface="Calibri" panose="020F0502020204030204" pitchFamily="34" charset="0"/>
            </a:endParaRPr>
          </a:p>
          <a:p>
            <a:pPr lvl="0" indent="-457200" algn="just">
              <a:lnSpc>
                <a:spcPct val="120000"/>
              </a:lnSpc>
              <a:spcBef>
                <a:spcPts val="0"/>
              </a:spcBef>
              <a:buClr>
                <a:srgbClr val="DD7471"/>
              </a:buClr>
              <a:buFont typeface="Noto Sans Symbols"/>
              <a:buChar char="✔"/>
            </a:pPr>
            <a:r>
              <a:rPr lang="en-US" sz="2800" b="0" dirty="0" err="1">
                <a:solidFill>
                  <a:srgbClr val="262626"/>
                </a:solidFill>
                <a:latin typeface="Calibri" panose="020F0502020204030204" pitchFamily="34" charset="0"/>
                <a:cs typeface="Calibri" panose="020F0502020204030204" pitchFamily="34" charset="0"/>
                <a:sym typeface="+mn-ea"/>
              </a:rPr>
              <a:t>Thiết</a:t>
            </a:r>
            <a:r>
              <a:rPr lang="en-US" sz="2800" b="0" dirty="0">
                <a:solidFill>
                  <a:srgbClr val="262626"/>
                </a:solidFill>
                <a:latin typeface="Calibri" panose="020F0502020204030204" pitchFamily="34" charset="0"/>
                <a:cs typeface="Calibri" panose="020F0502020204030204" pitchFamily="34" charset="0"/>
                <a:sym typeface="+mn-ea"/>
              </a:rPr>
              <a:t> </a:t>
            </a:r>
            <a:r>
              <a:rPr lang="en-US" sz="2800" b="0" dirty="0" err="1">
                <a:solidFill>
                  <a:srgbClr val="262626"/>
                </a:solidFill>
                <a:latin typeface="Calibri" panose="020F0502020204030204" pitchFamily="34" charset="0"/>
                <a:cs typeface="Calibri" panose="020F0502020204030204" pitchFamily="34" charset="0"/>
                <a:sym typeface="+mn-ea"/>
              </a:rPr>
              <a:t>kế</a:t>
            </a:r>
            <a:r>
              <a:rPr lang="en-US" sz="2800" b="0" dirty="0">
                <a:solidFill>
                  <a:srgbClr val="262626"/>
                </a:solidFill>
                <a:latin typeface="Calibri" panose="020F0502020204030204" pitchFamily="34" charset="0"/>
                <a:cs typeface="Calibri" panose="020F0502020204030204" pitchFamily="34" charset="0"/>
                <a:sym typeface="+mn-ea"/>
              </a:rPr>
              <a:t> </a:t>
            </a:r>
            <a:r>
              <a:rPr lang="en-US" sz="2800" b="0" dirty="0" err="1">
                <a:solidFill>
                  <a:srgbClr val="262626"/>
                </a:solidFill>
                <a:latin typeface="Calibri" panose="020F0502020204030204" pitchFamily="34" charset="0"/>
                <a:cs typeface="Calibri" panose="020F0502020204030204" pitchFamily="34" charset="0"/>
                <a:sym typeface="+mn-ea"/>
              </a:rPr>
              <a:t>người</a:t>
            </a:r>
            <a:r>
              <a:rPr lang="en-US" sz="2800" b="0" dirty="0">
                <a:solidFill>
                  <a:srgbClr val="262626"/>
                </a:solidFill>
                <a:latin typeface="Calibri" panose="020F0502020204030204" pitchFamily="34" charset="0"/>
                <a:cs typeface="Calibri" panose="020F0502020204030204" pitchFamily="34" charset="0"/>
                <a:sym typeface="+mn-ea"/>
              </a:rPr>
              <a:t> </a:t>
            </a:r>
            <a:r>
              <a:rPr lang="en-US" sz="2800" b="0" dirty="0" err="1">
                <a:solidFill>
                  <a:srgbClr val="262626"/>
                </a:solidFill>
                <a:latin typeface="Calibri" panose="020F0502020204030204" pitchFamily="34" charset="0"/>
                <a:cs typeface="Calibri" panose="020F0502020204030204" pitchFamily="34" charset="0"/>
                <a:sym typeface="+mn-ea"/>
              </a:rPr>
              <a:t>dùng</a:t>
            </a:r>
            <a:r>
              <a:rPr lang="en-US" sz="2800" b="0" dirty="0">
                <a:solidFill>
                  <a:srgbClr val="262626"/>
                </a:solidFill>
                <a:latin typeface="Calibri" panose="020F0502020204030204" pitchFamily="34" charset="0"/>
                <a:cs typeface="Calibri" panose="020F0502020204030204" pitchFamily="34" charset="0"/>
                <a:sym typeface="+mn-ea"/>
              </a:rPr>
              <a:t> </a:t>
            </a:r>
            <a:r>
              <a:rPr lang="en-US" sz="2800" b="0" dirty="0" err="1">
                <a:solidFill>
                  <a:srgbClr val="262626"/>
                </a:solidFill>
                <a:latin typeface="Calibri" panose="020F0502020204030204" pitchFamily="34" charset="0"/>
                <a:cs typeface="Calibri" panose="020F0502020204030204" pitchFamily="34" charset="0"/>
                <a:sym typeface="+mn-ea"/>
              </a:rPr>
              <a:t>làm</a:t>
            </a:r>
            <a:r>
              <a:rPr lang="en-US" sz="2800" b="0" dirty="0">
                <a:solidFill>
                  <a:srgbClr val="262626"/>
                </a:solidFill>
                <a:latin typeface="Calibri" panose="020F0502020204030204" pitchFamily="34" charset="0"/>
                <a:cs typeface="Calibri" panose="020F0502020204030204" pitchFamily="34" charset="0"/>
                <a:sym typeface="+mn-ea"/>
              </a:rPr>
              <a:t> </a:t>
            </a:r>
            <a:r>
              <a:rPr lang="en-US" sz="2800" b="0" dirty="0" err="1">
                <a:solidFill>
                  <a:srgbClr val="262626"/>
                </a:solidFill>
                <a:latin typeface="Calibri" panose="020F0502020204030204" pitchFamily="34" charset="0"/>
                <a:cs typeface="Calibri" panose="020F0502020204030204" pitchFamily="34" charset="0"/>
                <a:sym typeface="+mn-ea"/>
              </a:rPr>
              <a:t>trung</a:t>
            </a:r>
            <a:r>
              <a:rPr lang="en-US" sz="2800" b="0" dirty="0">
                <a:solidFill>
                  <a:srgbClr val="262626"/>
                </a:solidFill>
                <a:latin typeface="Calibri" panose="020F0502020204030204" pitchFamily="34" charset="0"/>
                <a:cs typeface="Calibri" panose="020F0502020204030204" pitchFamily="34" charset="0"/>
                <a:sym typeface="+mn-ea"/>
              </a:rPr>
              <a:t> </a:t>
            </a:r>
            <a:r>
              <a:rPr lang="en-US" sz="2800" b="0" dirty="0" err="1">
                <a:solidFill>
                  <a:srgbClr val="262626"/>
                </a:solidFill>
                <a:latin typeface="Calibri" panose="020F0502020204030204" pitchFamily="34" charset="0"/>
                <a:cs typeface="Calibri" panose="020F0502020204030204" pitchFamily="34" charset="0"/>
                <a:sym typeface="+mn-ea"/>
              </a:rPr>
              <a:t>tâm</a:t>
            </a:r>
            <a:endParaRPr lang="vi-VN" sz="2800" b="0" dirty="0">
              <a:solidFill>
                <a:srgbClr val="262626"/>
              </a:solidFill>
              <a:latin typeface="Calibri" panose="020F0502020204030204" pitchFamily="34" charset="0"/>
              <a:cs typeface="Calibri" panose="020F0502020204030204" pitchFamily="34" charset="0"/>
            </a:endParaRPr>
          </a:p>
          <a:p>
            <a:pPr indent="-457200" algn="just">
              <a:lnSpc>
                <a:spcPct val="120000"/>
              </a:lnSpc>
              <a:spcBef>
                <a:spcPts val="0"/>
              </a:spcBef>
              <a:buClr>
                <a:srgbClr val="DD7471"/>
              </a:buClr>
              <a:buFont typeface="Noto Sans Symbols"/>
              <a:buChar char="✔"/>
            </a:pPr>
            <a:r>
              <a:rPr lang="en-US" sz="2800" dirty="0" err="1">
                <a:solidFill>
                  <a:srgbClr val="262626"/>
                </a:solidFill>
                <a:latin typeface="Calibri" panose="020F0502020204030204" pitchFamily="34" charset="0"/>
                <a:cs typeface="Calibri" panose="020F0502020204030204" pitchFamily="34" charset="0"/>
                <a:sym typeface="+mn-ea"/>
              </a:rPr>
              <a:t>Phương</a:t>
            </a:r>
            <a:r>
              <a:rPr lang="en-US" sz="2800" dirty="0">
                <a:solidFill>
                  <a:srgbClr val="262626"/>
                </a:solidFill>
                <a:latin typeface="Calibri" panose="020F0502020204030204" pitchFamily="34" charset="0"/>
                <a:cs typeface="Calibri" panose="020F0502020204030204" pitchFamily="34" charset="0"/>
                <a:sym typeface="+mn-ea"/>
              </a:rPr>
              <a:t> </a:t>
            </a:r>
            <a:r>
              <a:rPr lang="en-US" sz="2800" dirty="0" err="1">
                <a:solidFill>
                  <a:srgbClr val="262626"/>
                </a:solidFill>
                <a:latin typeface="Calibri" panose="020F0502020204030204" pitchFamily="34" charset="0"/>
                <a:cs typeface="Calibri" panose="020F0502020204030204" pitchFamily="34" charset="0"/>
                <a:sym typeface="+mn-ea"/>
              </a:rPr>
              <a:t>pháp</a:t>
            </a:r>
            <a:r>
              <a:rPr lang="en-US" sz="2800" dirty="0">
                <a:solidFill>
                  <a:srgbClr val="262626"/>
                </a:solidFill>
                <a:latin typeface="Calibri" panose="020F0502020204030204" pitchFamily="34" charset="0"/>
                <a:cs typeface="Calibri" panose="020F0502020204030204" pitchFamily="34" charset="0"/>
                <a:sym typeface="+mn-ea"/>
              </a:rPr>
              <a:t> </a:t>
            </a:r>
            <a:r>
              <a:rPr lang="en-US" sz="2800" dirty="0" err="1">
                <a:solidFill>
                  <a:srgbClr val="262626"/>
                </a:solidFill>
                <a:latin typeface="Calibri" panose="020F0502020204030204" pitchFamily="34" charset="0"/>
                <a:cs typeface="Calibri" panose="020F0502020204030204" pitchFamily="34" charset="0"/>
                <a:sym typeface="+mn-ea"/>
              </a:rPr>
              <a:t>nghiên</a:t>
            </a:r>
            <a:r>
              <a:rPr lang="en-US" sz="2800" dirty="0">
                <a:solidFill>
                  <a:srgbClr val="262626"/>
                </a:solidFill>
                <a:latin typeface="Calibri" panose="020F0502020204030204" pitchFamily="34" charset="0"/>
                <a:cs typeface="Calibri" panose="020F0502020204030204" pitchFamily="34" charset="0"/>
                <a:sym typeface="+mn-ea"/>
              </a:rPr>
              <a:t> </a:t>
            </a:r>
            <a:r>
              <a:rPr lang="en-US" sz="2800" dirty="0" err="1">
                <a:solidFill>
                  <a:srgbClr val="262626"/>
                </a:solidFill>
                <a:latin typeface="Calibri" panose="020F0502020204030204" pitchFamily="34" charset="0"/>
                <a:cs typeface="Calibri" panose="020F0502020204030204" pitchFamily="34" charset="0"/>
                <a:sym typeface="+mn-ea"/>
              </a:rPr>
              <a:t>cứu người dùng</a:t>
            </a:r>
            <a:endParaRPr lang="en-US" sz="2800" dirty="0" err="1">
              <a:solidFill>
                <a:srgbClr val="262626"/>
              </a:solidFill>
              <a:latin typeface="Calibri" panose="020F0502020204030204" pitchFamily="34" charset="0"/>
              <a:cs typeface="Calibri" panose="020F0502020204030204" pitchFamily="34" charset="0"/>
            </a:endParaRPr>
          </a:p>
          <a:p>
            <a:pPr indent="-457200">
              <a:lnSpc>
                <a:spcPct val="120000"/>
              </a:lnSpc>
              <a:spcBef>
                <a:spcPts val="0"/>
              </a:spcBef>
              <a:buClr>
                <a:srgbClr val="DD7471"/>
              </a:buClr>
              <a:buFont typeface="Noto Sans Symbols"/>
              <a:buChar char="✔"/>
            </a:pPr>
            <a:r>
              <a:rPr lang="en-US" sz="2800" b="0" dirty="0" err="1">
                <a:latin typeface="Calibri" panose="020F0502020204030204" pitchFamily="34" charset="0"/>
                <a:cs typeface="Calibri" panose="020F0502020204030204" pitchFamily="34" charset="0"/>
                <a:sym typeface="+mn-ea"/>
              </a:rPr>
              <a:t>Cách</a:t>
            </a:r>
            <a:r>
              <a:rPr lang="en-US" sz="2800" b="0" dirty="0">
                <a:latin typeface="Calibri" panose="020F0502020204030204" pitchFamily="34" charset="0"/>
                <a:cs typeface="Calibri" panose="020F0502020204030204" pitchFamily="34" charset="0"/>
                <a:sym typeface="+mn-ea"/>
              </a:rPr>
              <a:t> nghiên cứu </a:t>
            </a:r>
            <a:r>
              <a:rPr lang="en-US" sz="2800" dirty="0">
                <a:latin typeface="Calibri" panose="020F0502020204030204" pitchFamily="34" charset="0"/>
                <a:cs typeface="Calibri" panose="020F0502020204030204" pitchFamily="34" charset="0"/>
                <a:sym typeface="+mn-ea"/>
              </a:rPr>
              <a:t>hành vi người dùng</a:t>
            </a:r>
            <a:endParaRPr lang="en-US" sz="2800" dirty="0">
              <a:latin typeface="Calibri" panose="020F0502020204030204" pitchFamily="34" charset="0"/>
              <a:cs typeface="Calibri" panose="020F0502020204030204" pitchFamily="34" charset="0"/>
            </a:endParaRPr>
          </a:p>
          <a:p>
            <a:pPr indent="-457200">
              <a:lnSpc>
                <a:spcPct val="120000"/>
              </a:lnSpc>
              <a:spcBef>
                <a:spcPts val="0"/>
              </a:spcBef>
              <a:buClr>
                <a:srgbClr val="DD7471"/>
              </a:buClr>
              <a:buFont typeface="Noto Sans Symbols"/>
              <a:buChar char="✔"/>
            </a:pPr>
            <a:r>
              <a:rPr lang="en-US" sz="2800" b="0" dirty="0">
                <a:latin typeface="Calibri" panose="020F0502020204030204" pitchFamily="34" charset="0"/>
                <a:cs typeface="Calibri" panose="020F0502020204030204" pitchFamily="34" charset="0"/>
                <a:sym typeface="+mn-ea"/>
              </a:rPr>
              <a:t>Thiết kế wireframe với figma</a:t>
            </a:r>
            <a:endParaRPr lang="vi-VN" sz="2800" b="0" dirty="0">
              <a:solidFill>
                <a:srgbClr val="262626"/>
              </a:solidFill>
              <a:latin typeface="Calibri" panose="020F0502020204030204" pitchFamily="34" charset="0"/>
              <a:cs typeface="Calibri" panose="020F0502020204030204" pitchFamily="34" charset="0"/>
            </a:endParaRPr>
          </a:p>
        </p:txBody>
      </p:sp>
      <p:sp>
        <p:nvSpPr>
          <p:cNvPr id="69" name="Google Shape;69;p3"/>
          <p:cNvSpPr txBox="1"/>
          <p:nvPr/>
        </p:nvSpPr>
        <p:spPr>
          <a:xfrm>
            <a:off x="914400" y="1447800"/>
            <a:ext cx="2809240" cy="457200"/>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None/>
            </a:pPr>
            <a:r>
              <a:rPr lang="en-US" sz="2400" b="1">
                <a:solidFill>
                  <a:schemeClr val="lt1"/>
                </a:solidFill>
                <a:latin typeface="Quattrocento Sans" panose="020B0502050000020003"/>
                <a:ea typeface="Quattrocento Sans" panose="020B0502050000020003"/>
                <a:cs typeface="Quattrocento Sans" panose="020B0502050000020003"/>
                <a:sym typeface="Quattrocento Sans" panose="020B0502050000020003"/>
              </a:rPr>
              <a:t>Nội dung bài học</a:t>
            </a:r>
            <a:endParaRPr sz="2400" b="1">
              <a:solidFill>
                <a:schemeClr val="lt1"/>
              </a:solidFill>
              <a:latin typeface="Quattrocento Sans" panose="020B0502050000020003"/>
              <a:ea typeface="Quattrocento Sans" panose="020B0502050000020003"/>
              <a:cs typeface="Quattrocento Sans" panose="020B0502050000020003"/>
              <a:sym typeface="Quattrocento Sans" panose="020B0502050000020003"/>
            </a:endParaRPr>
          </a:p>
        </p:txBody>
      </p:sp>
      <p:pic>
        <p:nvPicPr>
          <p:cNvPr id="70" name="Google Shape;70;p3"/>
          <p:cNvPicPr preferRelativeResize="0"/>
          <p:nvPr/>
        </p:nvPicPr>
        <p:blipFill rotWithShape="1">
          <a:blip r:embed="rId3"/>
          <a:srcRect/>
          <a:stretch>
            <a:fillRect/>
          </a:stretch>
        </p:blipFill>
        <p:spPr>
          <a:xfrm>
            <a:off x="6934200" y="152353"/>
            <a:ext cx="5117229" cy="211572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3"/>
          <p:cNvSpPr/>
          <p:nvPr/>
        </p:nvSpPr>
        <p:spPr>
          <a:xfrm>
            <a:off x="893038" y="4013149"/>
            <a:ext cx="10456487" cy="2251464"/>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66" name="Google Shape;66;p3"/>
          <p:cNvSpPr/>
          <p:nvPr/>
        </p:nvSpPr>
        <p:spPr>
          <a:xfrm>
            <a:off x="893038" y="3665169"/>
            <a:ext cx="3276600" cy="695960"/>
          </a:xfrm>
          <a:prstGeom prst="rightArrow">
            <a:avLst>
              <a:gd name="adj1" fmla="val 100000"/>
              <a:gd name="adj2" fmla="val 50000"/>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67" name="Google Shape;67;p3"/>
          <p:cNvSpPr txBox="1">
            <a:spLocks noGrp="1"/>
          </p:cNvSpPr>
          <p:nvPr>
            <p:ph type="body" idx="1"/>
          </p:nvPr>
        </p:nvSpPr>
        <p:spPr>
          <a:xfrm>
            <a:off x="1314909" y="4589827"/>
            <a:ext cx="7162165" cy="866140"/>
          </a:xfrm>
          <a:prstGeom prst="rect">
            <a:avLst/>
          </a:prstGeom>
          <a:noFill/>
          <a:ln>
            <a:noFill/>
          </a:ln>
        </p:spPr>
        <p:txBody>
          <a:bodyPr spcFirstLastPara="1" wrap="square" lIns="91425" tIns="45700" rIns="91425" bIns="45700" anchor="t" anchorCtr="0">
            <a:noAutofit/>
          </a:bodyPr>
          <a:lstStyle/>
          <a:p>
            <a:pPr lvl="0" indent="-457200">
              <a:lnSpc>
                <a:spcPct val="120000"/>
              </a:lnSpc>
              <a:spcBef>
                <a:spcPts val="0"/>
              </a:spcBef>
              <a:buClr>
                <a:srgbClr val="DD7471"/>
              </a:buClr>
              <a:buFont typeface="Noto Sans Symbols"/>
              <a:buChar char="✔"/>
            </a:pPr>
            <a:r>
              <a:rPr lang="vi-VN" sz="2800" b="0" dirty="0">
                <a:solidFill>
                  <a:srgbClr val="262626"/>
                </a:solidFill>
              </a:rPr>
              <a:t>Trải nghiệm khách hàng</a:t>
            </a:r>
          </a:p>
          <a:p>
            <a:pPr marL="0" lvl="0" indent="0">
              <a:lnSpc>
                <a:spcPct val="120000"/>
              </a:lnSpc>
              <a:spcBef>
                <a:spcPts val="0"/>
              </a:spcBef>
              <a:buClr>
                <a:srgbClr val="DD7471"/>
              </a:buClr>
            </a:pPr>
            <a:r>
              <a:rPr lang="en-US" sz="2800" b="0" dirty="0">
                <a:solidFill>
                  <a:srgbClr val="262626"/>
                </a:solidFill>
              </a:rPr>
              <a:t>	</a:t>
            </a:r>
            <a:r>
              <a:rPr lang="vi-VN" sz="2800" b="0" dirty="0">
                <a:solidFill>
                  <a:srgbClr val="262626"/>
                </a:solidFill>
              </a:rPr>
              <a:t>Các phương pháp nghiên cứu </a:t>
            </a:r>
          </a:p>
        </p:txBody>
      </p:sp>
      <p:sp>
        <p:nvSpPr>
          <p:cNvPr id="68" name="Google Shape;68;p3"/>
          <p:cNvSpPr txBox="1">
            <a:spLocks noGrp="1"/>
          </p:cNvSpPr>
          <p:nvPr>
            <p:ph type="sldNum" idx="12"/>
          </p:nvPr>
        </p:nvSpPr>
        <p:spPr>
          <a:xfrm>
            <a:off x="76200" y="6172201"/>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2000">
                <a:solidFill>
                  <a:schemeClr val="lt1"/>
                </a:solidFill>
              </a:rPr>
              <a:t>4</a:t>
            </a:fld>
            <a:endParaRPr sz="2000">
              <a:solidFill>
                <a:schemeClr val="lt1"/>
              </a:solidFill>
            </a:endParaRPr>
          </a:p>
        </p:txBody>
      </p:sp>
      <p:sp>
        <p:nvSpPr>
          <p:cNvPr id="69" name="Google Shape;69;p3"/>
          <p:cNvSpPr txBox="1"/>
          <p:nvPr/>
        </p:nvSpPr>
        <p:spPr>
          <a:xfrm>
            <a:off x="1207998" y="3784549"/>
            <a:ext cx="2809240" cy="457200"/>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None/>
            </a:pPr>
            <a:r>
              <a:rPr lang="en-US" sz="2400" b="1" dirty="0" err="1">
                <a:solidFill>
                  <a:schemeClr val="lt1"/>
                </a:solidFill>
                <a:latin typeface="Quattrocento Sans" panose="020B0502050000020003"/>
                <a:ea typeface="Quattrocento Sans" panose="020B0502050000020003"/>
                <a:cs typeface="Quattrocento Sans" panose="020B0502050000020003"/>
                <a:sym typeface="Quattrocento Sans" panose="020B0502050000020003"/>
              </a:rPr>
              <a:t>Phần</a:t>
            </a:r>
            <a:r>
              <a:rPr lang="en-US" sz="2400" b="1" dirty="0">
                <a:solidFill>
                  <a:schemeClr val="lt1"/>
                </a:solidFill>
                <a:latin typeface="Quattrocento Sans" panose="020B0502050000020003"/>
                <a:ea typeface="Quattrocento Sans" panose="020B0502050000020003"/>
                <a:cs typeface="Quattrocento Sans" panose="020B0502050000020003"/>
                <a:sym typeface="Quattrocento Sans" panose="020B0502050000020003"/>
              </a:rPr>
              <a:t> 1</a:t>
            </a:r>
            <a:endParaRPr sz="2400" b="1" dirty="0">
              <a:solidFill>
                <a:schemeClr val="lt1"/>
              </a:solidFill>
              <a:latin typeface="Quattrocento Sans" panose="020B0502050000020003"/>
              <a:ea typeface="Quattrocento Sans" panose="020B0502050000020003"/>
              <a:cs typeface="Quattrocento Sans" panose="020B0502050000020003"/>
              <a:sym typeface="Quattrocento Sans" panose="020B0502050000020003"/>
            </a:endParaRPr>
          </a:p>
        </p:txBody>
      </p:sp>
      <p:pic>
        <p:nvPicPr>
          <p:cNvPr id="70" name="Google Shape;70;p3"/>
          <p:cNvPicPr preferRelativeResize="0"/>
          <p:nvPr/>
        </p:nvPicPr>
        <p:blipFill rotWithShape="1">
          <a:blip r:embed="rId3"/>
          <a:srcRect/>
          <a:stretch>
            <a:fillRect/>
          </a:stretch>
        </p:blipFill>
        <p:spPr>
          <a:xfrm>
            <a:off x="5068798" y="457200"/>
            <a:ext cx="7220811" cy="3625320"/>
          </a:xfrm>
          <a:prstGeom prst="rect">
            <a:avLst/>
          </a:prstGeom>
          <a:noFill/>
          <a:ln>
            <a:noFill/>
          </a:ln>
        </p:spPr>
      </p:pic>
    </p:spTree>
    <p:extLst>
      <p:ext uri="{BB962C8B-B14F-4D97-AF65-F5344CB8AC3E}">
        <p14:creationId xmlns:p14="http://schemas.microsoft.com/office/powerpoint/2010/main" val="2893455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57199" y="1066800"/>
            <a:ext cx="8215746" cy="612435"/>
          </a:xfrm>
          <a:prstGeom prst="rect">
            <a:avLst/>
          </a:prstGeom>
          <a:noFill/>
          <a:ln>
            <a:noFill/>
          </a:ln>
        </p:spPr>
        <p:txBody>
          <a:bodyPr spcFirstLastPara="1" wrap="square" lIns="91425" tIns="45700" rIns="91425" bIns="45700" anchor="t" anchorCtr="0">
            <a:spAutoFit/>
          </a:bodyPr>
          <a:lstStyle/>
          <a:p>
            <a:pPr marL="457200" lvl="0" indent="-457200">
              <a:lnSpc>
                <a:spcPct val="130000"/>
              </a:lnSpc>
              <a:buClr>
                <a:schemeClr val="accent1"/>
              </a:buClr>
              <a:buSzPts val="2800"/>
              <a:buFont typeface="Noto Sans Symbols"/>
              <a:buChar char="▪"/>
            </a:pPr>
            <a:endParaRPr sz="2600" b="1"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8" name="Google Shape;78;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1. UX Insight?</a:t>
            </a:r>
            <a:endParaRPr dirty="0"/>
          </a:p>
        </p:txBody>
      </p:sp>
      <p:sp>
        <p:nvSpPr>
          <p:cNvPr id="2" name="Google Shape;77;p4"/>
          <p:cNvSpPr txBox="1"/>
          <p:nvPr/>
        </p:nvSpPr>
        <p:spPr>
          <a:xfrm>
            <a:off x="457200" y="1066800"/>
            <a:ext cx="5503545" cy="5290185"/>
          </a:xfrm>
          <a:prstGeom prst="rect">
            <a:avLst/>
          </a:prstGeom>
          <a:noFill/>
          <a:ln>
            <a:noFill/>
          </a:ln>
        </p:spPr>
        <p:txBody>
          <a:bodyPr spcFirstLastPara="1" wrap="square" lIns="91425" tIns="45700" rIns="91425" bIns="45700" anchor="t" anchorCtr="0">
            <a:spAutoFit/>
          </a:bodyPr>
          <a:lstStyle/>
          <a:p>
            <a:pPr marL="457200" lvl="0" indent="-457200">
              <a:lnSpc>
                <a:spcPct val="130000"/>
              </a:lnSpc>
              <a:buClr>
                <a:schemeClr val="accent1"/>
              </a:buClr>
              <a:buSzPts val="2800"/>
              <a:buFont typeface="Wingdings" panose="05000000000000000000" charset="0"/>
              <a:buChar char="§"/>
            </a:pPr>
            <a:r>
              <a:rPr lang="en-US" sz="2600" dirty="0">
                <a:solidFill>
                  <a:schemeClr val="dk1"/>
                </a:solidFill>
                <a:latin typeface="Calibri" panose="020F0502020204030204"/>
                <a:ea typeface="Calibri" panose="020F0502020204030204"/>
                <a:cs typeface="Calibri" panose="020F0502020204030204"/>
                <a:sym typeface="Calibri" panose="020F0502020204030204"/>
              </a:rPr>
              <a:t>User Experience (UX) là trải nghiệm toàn diện mà một người dùng trải qua khi tương tác với một sản phẩm hoặc dịch vụ. Nó bao gồm tất cả các khía cạnh liên quan đến sự tương tác của người dùng với sản phẩm hoặc dịch vụ, bao gồm giao diện người dùng, khả năng sử dụng, khả năng tiếp cận, nội dung và sự hài lòng tổng thể.</a:t>
            </a:r>
          </a:p>
        </p:txBody>
      </p:sp>
      <p:pic>
        <p:nvPicPr>
          <p:cNvPr id="3" name="Picture 2" descr="11"/>
          <p:cNvPicPr>
            <a:picLocks noChangeAspect="1"/>
          </p:cNvPicPr>
          <p:nvPr/>
        </p:nvPicPr>
        <p:blipFill>
          <a:blip r:embed="rId3"/>
          <a:stretch>
            <a:fillRect/>
          </a:stretch>
        </p:blipFill>
        <p:spPr>
          <a:xfrm>
            <a:off x="6088380" y="513080"/>
            <a:ext cx="6398260" cy="63982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57199" y="1066800"/>
            <a:ext cx="8215746" cy="612435"/>
          </a:xfrm>
          <a:prstGeom prst="rect">
            <a:avLst/>
          </a:prstGeom>
          <a:noFill/>
          <a:ln>
            <a:noFill/>
          </a:ln>
        </p:spPr>
        <p:txBody>
          <a:bodyPr spcFirstLastPara="1" wrap="square" lIns="91425" tIns="45700" rIns="91425" bIns="45700" anchor="t" anchorCtr="0">
            <a:spAutoFit/>
          </a:bodyPr>
          <a:lstStyle/>
          <a:p>
            <a:pPr marL="457200" lvl="0" indent="-457200">
              <a:lnSpc>
                <a:spcPct val="130000"/>
              </a:lnSpc>
              <a:buClr>
                <a:schemeClr val="accent1"/>
              </a:buClr>
              <a:buSzPts val="2800"/>
              <a:buFont typeface="Noto Sans Symbols"/>
              <a:buChar char="▪"/>
            </a:pPr>
            <a:endParaRPr sz="2600" b="1"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8" name="Google Shape;78;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1. UX Insight?</a:t>
            </a:r>
            <a:endParaRPr dirty="0"/>
          </a:p>
        </p:txBody>
      </p:sp>
      <p:sp>
        <p:nvSpPr>
          <p:cNvPr id="2" name="Google Shape;77;p4"/>
          <p:cNvSpPr txBox="1"/>
          <p:nvPr/>
        </p:nvSpPr>
        <p:spPr>
          <a:xfrm>
            <a:off x="457200" y="1066800"/>
            <a:ext cx="5666105" cy="3729990"/>
          </a:xfrm>
          <a:prstGeom prst="rect">
            <a:avLst/>
          </a:prstGeom>
          <a:noFill/>
          <a:ln>
            <a:noFill/>
          </a:ln>
        </p:spPr>
        <p:txBody>
          <a:bodyPr spcFirstLastPara="1" wrap="square" lIns="91425" tIns="45700" rIns="91425" bIns="45700" anchor="t" anchorCtr="0">
            <a:spAutoFit/>
          </a:bodyPr>
          <a:lstStyle/>
          <a:p>
            <a:pPr marL="457200" lvl="0" indent="-457200">
              <a:lnSpc>
                <a:spcPct val="130000"/>
              </a:lnSpc>
              <a:buClr>
                <a:schemeClr val="accent1"/>
              </a:buClr>
              <a:buSzPts val="2800"/>
              <a:buFont typeface="Wingdings" panose="05000000000000000000" charset="0"/>
              <a:buChar char="§"/>
            </a:pPr>
            <a:r>
              <a:rPr lang="en-US" sz="2600" dirty="0">
                <a:solidFill>
                  <a:schemeClr val="dk1"/>
                </a:solidFill>
                <a:latin typeface="Calibri" panose="020F0502020204030204"/>
                <a:ea typeface="Calibri" panose="020F0502020204030204"/>
                <a:cs typeface="Calibri" panose="020F0502020204030204"/>
                <a:sym typeface="Calibri" panose="020F0502020204030204"/>
              </a:rPr>
              <a:t>Insight có nghĩa là hiểu sâu sắc về một vấn đề hoặc tình huống cụ thể. Đó là khả năng nhìn vào một vấn đề hoặc tình huống từ một góc độ mới, mang lại những hiểu biết mới và có thể dẫn đến sự hiểu biết sâu sắc và giải pháp tốt hơn.</a:t>
            </a:r>
          </a:p>
        </p:txBody>
      </p:sp>
      <p:pic>
        <p:nvPicPr>
          <p:cNvPr id="3" name="Picture 2" descr="9"/>
          <p:cNvPicPr>
            <a:picLocks noChangeAspect="1"/>
          </p:cNvPicPr>
          <p:nvPr/>
        </p:nvPicPr>
        <p:blipFill>
          <a:blip r:embed="rId3"/>
          <a:stretch>
            <a:fillRect/>
          </a:stretch>
        </p:blipFill>
        <p:spPr>
          <a:xfrm>
            <a:off x="6001385" y="335280"/>
            <a:ext cx="5708650" cy="57086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57199" y="1066800"/>
            <a:ext cx="8215746" cy="612435"/>
          </a:xfrm>
          <a:prstGeom prst="rect">
            <a:avLst/>
          </a:prstGeom>
          <a:noFill/>
          <a:ln>
            <a:noFill/>
          </a:ln>
        </p:spPr>
        <p:txBody>
          <a:bodyPr spcFirstLastPara="1" wrap="square" lIns="91425" tIns="45700" rIns="91425" bIns="45700" anchor="t" anchorCtr="0">
            <a:spAutoFit/>
          </a:bodyPr>
          <a:lstStyle/>
          <a:p>
            <a:pPr marL="457200" lvl="0" indent="-457200">
              <a:lnSpc>
                <a:spcPct val="130000"/>
              </a:lnSpc>
              <a:buClr>
                <a:schemeClr val="accent1"/>
              </a:buClr>
              <a:buSzPts val="2800"/>
              <a:buFont typeface="Noto Sans Symbols"/>
              <a:buChar char="▪"/>
            </a:pPr>
            <a:endParaRPr sz="2600" b="1"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8" name="Google Shape;78;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2. </a:t>
            </a:r>
            <a:r>
              <a:rPr lang="en-US" dirty="0" err="1"/>
              <a:t>Quy</a:t>
            </a:r>
            <a:r>
              <a:rPr lang="en-US" dirty="0"/>
              <a:t> </a:t>
            </a:r>
            <a:r>
              <a:rPr lang="en-US" dirty="0" err="1"/>
              <a:t>trình</a:t>
            </a:r>
            <a:r>
              <a:rPr lang="en-US" dirty="0"/>
              <a:t> </a:t>
            </a:r>
            <a:r>
              <a:rPr lang="en-US" dirty="0" err="1"/>
              <a:t>trải</a:t>
            </a:r>
            <a:r>
              <a:rPr lang="en-US" dirty="0"/>
              <a:t> </a:t>
            </a:r>
            <a:r>
              <a:rPr lang="en-US" dirty="0" err="1"/>
              <a:t>nghiệm</a:t>
            </a:r>
            <a:r>
              <a:rPr lang="en-US" dirty="0"/>
              <a:t> </a:t>
            </a:r>
            <a:r>
              <a:rPr lang="en-US" dirty="0" err="1"/>
              <a:t>người</a:t>
            </a:r>
            <a:r>
              <a:rPr lang="en-US" dirty="0"/>
              <a:t> dùng (UX Process)? </a:t>
            </a:r>
            <a:endParaRPr dirty="0"/>
          </a:p>
        </p:txBody>
      </p:sp>
      <p:pic>
        <p:nvPicPr>
          <p:cNvPr id="2" name="Picture 1"/>
          <p:cNvPicPr>
            <a:picLocks noChangeAspect="1"/>
          </p:cNvPicPr>
          <p:nvPr/>
        </p:nvPicPr>
        <p:blipFill>
          <a:blip r:embed="rId3"/>
          <a:stretch>
            <a:fillRect/>
          </a:stretch>
        </p:blipFill>
        <p:spPr>
          <a:xfrm>
            <a:off x="2186709" y="1316863"/>
            <a:ext cx="7936345" cy="491955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57200" y="1066800"/>
            <a:ext cx="6385560" cy="4770120"/>
          </a:xfrm>
          <a:prstGeom prst="rect">
            <a:avLst/>
          </a:prstGeom>
          <a:noFill/>
          <a:ln>
            <a:noFill/>
          </a:ln>
        </p:spPr>
        <p:txBody>
          <a:bodyPr spcFirstLastPara="1" wrap="square" lIns="91425" tIns="45700" rIns="91425" bIns="45700" anchor="t" anchorCtr="0">
            <a:spAutoFit/>
          </a:bodyPr>
          <a:lstStyle/>
          <a:p>
            <a:pPr marL="457200" lvl="0" indent="-457200">
              <a:lnSpc>
                <a:spcPct val="130000"/>
              </a:lnSpc>
              <a:buClr>
                <a:schemeClr val="accent1"/>
              </a:buClr>
              <a:buSzPts val="2800"/>
              <a:buFont typeface="Noto Sans Symbols"/>
              <a:buChar char="▪"/>
            </a:pPr>
            <a:r>
              <a:rPr lang="en-US" sz="2600" dirty="0">
                <a:solidFill>
                  <a:schemeClr val="dk1"/>
                </a:solidFill>
                <a:latin typeface="Calibri" panose="020F0502020204030204"/>
                <a:ea typeface="Calibri" panose="020F0502020204030204"/>
                <a:cs typeface="Calibri" panose="020F0502020204030204"/>
                <a:sym typeface="Calibri" panose="020F0502020204030204"/>
              </a:rPr>
              <a:t>Start</a:t>
            </a:r>
          </a:p>
          <a:p>
            <a:pPr marL="457200" lvl="0" indent="-457200">
              <a:lnSpc>
                <a:spcPct val="130000"/>
              </a:lnSpc>
              <a:buClr>
                <a:schemeClr val="accent1"/>
              </a:buClr>
              <a:buSzPts val="2800"/>
              <a:buFont typeface="Noto Sans Symbols"/>
              <a:buChar char="▪"/>
            </a:pPr>
            <a:r>
              <a:rPr lang="en-US" sz="2600" dirty="0">
                <a:solidFill>
                  <a:schemeClr val="dk1"/>
                </a:solidFill>
                <a:latin typeface="Calibri" panose="020F0502020204030204"/>
                <a:ea typeface="Calibri" panose="020F0502020204030204"/>
                <a:cs typeface="Calibri" panose="020F0502020204030204"/>
                <a:sym typeface="Calibri" panose="020F0502020204030204"/>
              </a:rPr>
              <a:t>Explore the problem: </a:t>
            </a:r>
            <a:r>
              <a:rPr lang="en-US" sz="2600" dirty="0" err="1">
                <a:solidFill>
                  <a:schemeClr val="dk1"/>
                </a:solidFill>
                <a:latin typeface="Calibri" panose="020F0502020204030204"/>
                <a:ea typeface="Calibri" panose="020F0502020204030204"/>
                <a:cs typeface="Calibri" panose="020F0502020204030204"/>
                <a:sym typeface="Calibri" panose="020F0502020204030204"/>
              </a:rPr>
              <a:t>vấn</a:t>
            </a:r>
            <a:r>
              <a:rPr lang="en-US" sz="2600" dirty="0">
                <a:solidFill>
                  <a:schemeClr val="dk1"/>
                </a:solidFill>
                <a:latin typeface="Calibri" panose="020F0502020204030204"/>
                <a:ea typeface="Calibri" panose="020F0502020204030204"/>
                <a:cs typeface="Calibri" panose="020F0502020204030204"/>
                <a:sym typeface="Calibri" panose="020F0502020204030204"/>
              </a:rPr>
              <a:t> </a:t>
            </a:r>
            <a:r>
              <a:rPr lang="en-US" sz="2600" dirty="0" err="1">
                <a:solidFill>
                  <a:schemeClr val="dk1"/>
                </a:solidFill>
                <a:latin typeface="Calibri" panose="020F0502020204030204"/>
                <a:ea typeface="Calibri" panose="020F0502020204030204"/>
                <a:cs typeface="Calibri" panose="020F0502020204030204"/>
                <a:sym typeface="Calibri" panose="020F0502020204030204"/>
              </a:rPr>
              <a:t>đề</a:t>
            </a:r>
            <a:r>
              <a:rPr lang="en-US" sz="2600" dirty="0">
                <a:solidFill>
                  <a:schemeClr val="dk1"/>
                </a:solidFill>
                <a:latin typeface="Calibri" panose="020F0502020204030204"/>
                <a:ea typeface="Calibri" panose="020F0502020204030204"/>
                <a:cs typeface="Calibri" panose="020F0502020204030204"/>
                <a:sym typeface="Calibri" panose="020F0502020204030204"/>
              </a:rPr>
              <a:t> </a:t>
            </a:r>
            <a:r>
              <a:rPr lang="en-US" sz="2600" dirty="0" err="1">
                <a:solidFill>
                  <a:schemeClr val="dk1"/>
                </a:solidFill>
                <a:latin typeface="Calibri" panose="020F0502020204030204"/>
                <a:ea typeface="Calibri" panose="020F0502020204030204"/>
                <a:cs typeface="Calibri" panose="020F0502020204030204"/>
                <a:sym typeface="Calibri" panose="020F0502020204030204"/>
              </a:rPr>
              <a:t>nằm</a:t>
            </a:r>
            <a:r>
              <a:rPr lang="en-US" sz="2600" dirty="0">
                <a:solidFill>
                  <a:schemeClr val="dk1"/>
                </a:solidFill>
                <a:latin typeface="Calibri" panose="020F0502020204030204"/>
                <a:ea typeface="Calibri" panose="020F0502020204030204"/>
                <a:cs typeface="Calibri" panose="020F0502020204030204"/>
                <a:sym typeface="Calibri" panose="020F0502020204030204"/>
              </a:rPr>
              <a:t> ở </a:t>
            </a:r>
            <a:r>
              <a:rPr lang="en-US" sz="2600" dirty="0" err="1">
                <a:solidFill>
                  <a:schemeClr val="dk1"/>
                </a:solidFill>
                <a:latin typeface="Calibri" panose="020F0502020204030204"/>
                <a:ea typeface="Calibri" panose="020F0502020204030204"/>
                <a:cs typeface="Calibri" panose="020F0502020204030204"/>
                <a:sym typeface="Calibri" panose="020F0502020204030204"/>
              </a:rPr>
              <a:t>đâu</a:t>
            </a:r>
            <a:r>
              <a:rPr lang="en-US" sz="2600" dirty="0">
                <a:solidFill>
                  <a:schemeClr val="dk1"/>
                </a:solidFill>
                <a:latin typeface="Calibri" panose="020F0502020204030204"/>
                <a:ea typeface="Calibri" panose="020F0502020204030204"/>
                <a:cs typeface="Calibri" panose="020F0502020204030204"/>
                <a:sym typeface="Calibri" panose="020F0502020204030204"/>
              </a:rPr>
              <a:t>?</a:t>
            </a:r>
          </a:p>
          <a:p>
            <a:pPr marL="457200" lvl="0" indent="-457200">
              <a:lnSpc>
                <a:spcPct val="130000"/>
              </a:lnSpc>
              <a:buClr>
                <a:schemeClr val="accent1"/>
              </a:buClr>
              <a:buSzPts val="2800"/>
              <a:buFont typeface="Noto Sans Symbols"/>
              <a:buChar char="▪"/>
            </a:pPr>
            <a:r>
              <a:rPr lang="en-US" sz="2600" dirty="0">
                <a:solidFill>
                  <a:schemeClr val="dk1"/>
                </a:solidFill>
                <a:latin typeface="Calibri" panose="020F0502020204030204"/>
                <a:ea typeface="Calibri" panose="020F0502020204030204"/>
                <a:cs typeface="Calibri" panose="020F0502020204030204"/>
                <a:sym typeface="Calibri" panose="020F0502020204030204"/>
              </a:rPr>
              <a:t>Decide what to fix: </a:t>
            </a:r>
            <a:r>
              <a:rPr lang="en-US" sz="2600" dirty="0" err="1">
                <a:solidFill>
                  <a:schemeClr val="dk1"/>
                </a:solidFill>
                <a:latin typeface="Calibri" panose="020F0502020204030204"/>
                <a:ea typeface="Calibri" panose="020F0502020204030204"/>
                <a:cs typeface="Calibri" panose="020F0502020204030204"/>
                <a:sym typeface="Calibri" panose="020F0502020204030204"/>
              </a:rPr>
              <a:t>Quyết</a:t>
            </a:r>
            <a:r>
              <a:rPr lang="en-US" sz="2600" dirty="0">
                <a:solidFill>
                  <a:schemeClr val="dk1"/>
                </a:solidFill>
                <a:latin typeface="Calibri" panose="020F0502020204030204"/>
                <a:ea typeface="Calibri" panose="020F0502020204030204"/>
                <a:cs typeface="Calibri" panose="020F0502020204030204"/>
                <a:sym typeface="Calibri" panose="020F0502020204030204"/>
              </a:rPr>
              <a:t> </a:t>
            </a:r>
            <a:r>
              <a:rPr lang="en-US" sz="2600" dirty="0" err="1">
                <a:solidFill>
                  <a:schemeClr val="dk1"/>
                </a:solidFill>
                <a:latin typeface="Calibri" panose="020F0502020204030204"/>
                <a:ea typeface="Calibri" panose="020F0502020204030204"/>
                <a:cs typeface="Calibri" panose="020F0502020204030204"/>
                <a:sym typeface="Calibri" panose="020F0502020204030204"/>
              </a:rPr>
              <a:t>định</a:t>
            </a:r>
            <a:r>
              <a:rPr lang="en-US" sz="2600" dirty="0">
                <a:solidFill>
                  <a:schemeClr val="dk1"/>
                </a:solidFill>
                <a:latin typeface="Calibri" panose="020F0502020204030204"/>
                <a:ea typeface="Calibri" panose="020F0502020204030204"/>
                <a:cs typeface="Calibri" panose="020F0502020204030204"/>
                <a:sym typeface="Calibri" panose="020F0502020204030204"/>
              </a:rPr>
              <a:t> </a:t>
            </a:r>
            <a:r>
              <a:rPr lang="en-US" sz="2600" dirty="0" err="1">
                <a:solidFill>
                  <a:schemeClr val="dk1"/>
                </a:solidFill>
                <a:latin typeface="Calibri" panose="020F0502020204030204"/>
                <a:ea typeface="Calibri" panose="020F0502020204030204"/>
                <a:cs typeface="Calibri" panose="020F0502020204030204"/>
                <a:sym typeface="Calibri" panose="020F0502020204030204"/>
              </a:rPr>
              <a:t>sửa</a:t>
            </a:r>
            <a:r>
              <a:rPr lang="en-US" sz="2600" dirty="0">
                <a:solidFill>
                  <a:schemeClr val="dk1"/>
                </a:solidFill>
                <a:latin typeface="Calibri" panose="020F0502020204030204"/>
                <a:ea typeface="Calibri" panose="020F0502020204030204"/>
                <a:cs typeface="Calibri" panose="020F0502020204030204"/>
                <a:sym typeface="Calibri" panose="020F0502020204030204"/>
              </a:rPr>
              <a:t>?</a:t>
            </a:r>
          </a:p>
          <a:p>
            <a:pPr marL="457200" lvl="0" indent="-457200">
              <a:lnSpc>
                <a:spcPct val="130000"/>
              </a:lnSpc>
              <a:buClr>
                <a:schemeClr val="accent1"/>
              </a:buClr>
              <a:buSzPts val="2800"/>
              <a:buFont typeface="Noto Sans Symbols"/>
              <a:buChar char="▪"/>
            </a:pPr>
            <a:r>
              <a:rPr lang="en-US" sz="2600" dirty="0">
                <a:solidFill>
                  <a:schemeClr val="dk1"/>
                </a:solidFill>
                <a:latin typeface="Calibri" panose="020F0502020204030204"/>
                <a:ea typeface="Calibri" panose="020F0502020204030204"/>
                <a:cs typeface="Calibri" panose="020F0502020204030204"/>
                <a:sym typeface="Calibri" panose="020F0502020204030204"/>
              </a:rPr>
              <a:t>Test potential solutions: </a:t>
            </a:r>
            <a:r>
              <a:rPr lang="en-US" sz="2600" dirty="0" err="1">
                <a:solidFill>
                  <a:schemeClr val="dk1"/>
                </a:solidFill>
                <a:latin typeface="Calibri" panose="020F0502020204030204"/>
                <a:ea typeface="Calibri" panose="020F0502020204030204"/>
                <a:cs typeface="Calibri" panose="020F0502020204030204"/>
                <a:sym typeface="Calibri" panose="020F0502020204030204"/>
              </a:rPr>
              <a:t>có</a:t>
            </a:r>
            <a:r>
              <a:rPr lang="en-US" sz="2600" dirty="0">
                <a:solidFill>
                  <a:schemeClr val="dk1"/>
                </a:solidFill>
                <a:latin typeface="Calibri" panose="020F0502020204030204"/>
                <a:ea typeface="Calibri" panose="020F0502020204030204"/>
                <a:cs typeface="Calibri" panose="020F0502020204030204"/>
                <a:sym typeface="Calibri" panose="020F0502020204030204"/>
              </a:rPr>
              <a:t> </a:t>
            </a:r>
            <a:r>
              <a:rPr lang="en-US" sz="2600" dirty="0" err="1">
                <a:solidFill>
                  <a:schemeClr val="dk1"/>
                </a:solidFill>
                <a:latin typeface="Calibri" panose="020F0502020204030204"/>
                <a:ea typeface="Calibri" panose="020F0502020204030204"/>
                <a:cs typeface="Calibri" panose="020F0502020204030204"/>
                <a:sym typeface="Calibri" panose="020F0502020204030204"/>
              </a:rPr>
              <a:t>những</a:t>
            </a:r>
            <a:r>
              <a:rPr lang="en-US" sz="2600" dirty="0">
                <a:solidFill>
                  <a:schemeClr val="dk1"/>
                </a:solidFill>
                <a:latin typeface="Calibri" panose="020F0502020204030204"/>
                <a:ea typeface="Calibri" panose="020F0502020204030204"/>
                <a:cs typeface="Calibri" panose="020F0502020204030204"/>
                <a:sym typeface="Calibri" panose="020F0502020204030204"/>
              </a:rPr>
              <a:t> </a:t>
            </a:r>
            <a:r>
              <a:rPr lang="en-US" sz="2600" dirty="0" err="1">
                <a:solidFill>
                  <a:schemeClr val="dk1"/>
                </a:solidFill>
                <a:latin typeface="Calibri" panose="020F0502020204030204"/>
                <a:ea typeface="Calibri" panose="020F0502020204030204"/>
                <a:cs typeface="Calibri" panose="020F0502020204030204"/>
                <a:sym typeface="Calibri" panose="020F0502020204030204"/>
              </a:rPr>
              <a:t>thiết</a:t>
            </a:r>
            <a:r>
              <a:rPr lang="en-US" sz="2600" dirty="0">
                <a:solidFill>
                  <a:schemeClr val="dk1"/>
                </a:solidFill>
                <a:latin typeface="Calibri" panose="020F0502020204030204"/>
                <a:ea typeface="Calibri" panose="020F0502020204030204"/>
                <a:cs typeface="Calibri" panose="020F0502020204030204"/>
                <a:sym typeface="Calibri" panose="020F0502020204030204"/>
              </a:rPr>
              <a:t> </a:t>
            </a:r>
            <a:r>
              <a:rPr lang="en-US" sz="2600" dirty="0" err="1">
                <a:solidFill>
                  <a:schemeClr val="dk1"/>
                </a:solidFill>
                <a:latin typeface="Calibri" panose="020F0502020204030204"/>
                <a:ea typeface="Calibri" panose="020F0502020204030204"/>
                <a:cs typeface="Calibri" panose="020F0502020204030204"/>
                <a:sym typeface="Calibri" panose="020F0502020204030204"/>
              </a:rPr>
              <a:t>kế</a:t>
            </a:r>
            <a:r>
              <a:rPr lang="en-US" sz="2600" dirty="0">
                <a:solidFill>
                  <a:schemeClr val="dk1"/>
                </a:solidFill>
                <a:latin typeface="Calibri" panose="020F0502020204030204"/>
                <a:ea typeface="Calibri" panose="020F0502020204030204"/>
                <a:cs typeface="Calibri" panose="020F0502020204030204"/>
                <a:sym typeface="Calibri" panose="020F0502020204030204"/>
              </a:rPr>
              <a:t> </a:t>
            </a:r>
            <a:r>
              <a:rPr lang="en-US" sz="2600" dirty="0" err="1">
                <a:solidFill>
                  <a:schemeClr val="dk1"/>
                </a:solidFill>
                <a:latin typeface="Calibri" panose="020F0502020204030204"/>
                <a:ea typeface="Calibri" panose="020F0502020204030204"/>
                <a:cs typeface="Calibri" panose="020F0502020204030204"/>
                <a:sym typeface="Calibri" panose="020F0502020204030204"/>
              </a:rPr>
              <a:t>để</a:t>
            </a:r>
            <a:r>
              <a:rPr lang="en-US" sz="2600" dirty="0">
                <a:solidFill>
                  <a:schemeClr val="dk1"/>
                </a:solidFill>
                <a:latin typeface="Calibri" panose="020F0502020204030204"/>
                <a:ea typeface="Calibri" panose="020F0502020204030204"/>
                <a:cs typeface="Calibri" panose="020F0502020204030204"/>
                <a:sym typeface="Calibri" panose="020F0502020204030204"/>
              </a:rPr>
              <a:t> test</a:t>
            </a:r>
          </a:p>
          <a:p>
            <a:pPr marL="457200" lvl="0" indent="-457200">
              <a:lnSpc>
                <a:spcPct val="130000"/>
              </a:lnSpc>
              <a:buClr>
                <a:schemeClr val="accent1"/>
              </a:buClr>
              <a:buSzPts val="2800"/>
              <a:buFont typeface="Noto Sans Symbols"/>
              <a:buChar char="▪"/>
            </a:pPr>
            <a:r>
              <a:rPr lang="en-US" sz="2600" dirty="0">
                <a:solidFill>
                  <a:schemeClr val="dk1"/>
                </a:solidFill>
                <a:latin typeface="Calibri" panose="020F0502020204030204"/>
                <a:ea typeface="Calibri" panose="020F0502020204030204"/>
                <a:cs typeface="Calibri" panose="020F0502020204030204"/>
                <a:sym typeface="Calibri" panose="020F0502020204030204"/>
              </a:rPr>
              <a:t>Refine final solution: </a:t>
            </a:r>
            <a:r>
              <a:rPr lang="en-US" sz="2600" dirty="0" err="1">
                <a:solidFill>
                  <a:schemeClr val="dk1"/>
                </a:solidFill>
                <a:latin typeface="Calibri" panose="020F0502020204030204"/>
                <a:ea typeface="Calibri" panose="020F0502020204030204"/>
                <a:cs typeface="Calibri" panose="020F0502020204030204"/>
                <a:sym typeface="Calibri" panose="020F0502020204030204"/>
              </a:rPr>
              <a:t>chốt</a:t>
            </a:r>
            <a:r>
              <a:rPr lang="en-US" sz="2600" dirty="0">
                <a:solidFill>
                  <a:schemeClr val="dk1"/>
                </a:solidFill>
                <a:latin typeface="Calibri" panose="020F0502020204030204"/>
                <a:ea typeface="Calibri" panose="020F0502020204030204"/>
                <a:cs typeface="Calibri" panose="020F0502020204030204"/>
                <a:sym typeface="Calibri" panose="020F0502020204030204"/>
              </a:rPr>
              <a:t> </a:t>
            </a:r>
            <a:r>
              <a:rPr lang="en-US" sz="2600" dirty="0" err="1">
                <a:solidFill>
                  <a:schemeClr val="dk1"/>
                </a:solidFill>
                <a:latin typeface="Calibri" panose="020F0502020204030204"/>
                <a:ea typeface="Calibri" panose="020F0502020204030204"/>
                <a:cs typeface="Calibri" panose="020F0502020204030204"/>
                <a:sym typeface="Calibri" panose="020F0502020204030204"/>
              </a:rPr>
              <a:t>thiết</a:t>
            </a:r>
            <a:r>
              <a:rPr lang="en-US" sz="2600" dirty="0">
                <a:solidFill>
                  <a:schemeClr val="dk1"/>
                </a:solidFill>
                <a:latin typeface="Calibri" panose="020F0502020204030204"/>
                <a:ea typeface="Calibri" panose="020F0502020204030204"/>
                <a:cs typeface="Calibri" panose="020F0502020204030204"/>
                <a:sym typeface="Calibri" panose="020F0502020204030204"/>
              </a:rPr>
              <a:t> </a:t>
            </a:r>
            <a:r>
              <a:rPr lang="en-US" sz="2600" dirty="0" err="1">
                <a:solidFill>
                  <a:schemeClr val="dk1"/>
                </a:solidFill>
                <a:latin typeface="Calibri" panose="020F0502020204030204"/>
                <a:ea typeface="Calibri" panose="020F0502020204030204"/>
                <a:cs typeface="Calibri" panose="020F0502020204030204"/>
                <a:sym typeface="Calibri" panose="020F0502020204030204"/>
              </a:rPr>
              <a:t>kế</a:t>
            </a:r>
            <a:endParaRPr lang="en-US" sz="2600" dirty="0">
              <a:solidFill>
                <a:schemeClr val="dk1"/>
              </a:solidFill>
              <a:latin typeface="Calibri" panose="020F0502020204030204"/>
              <a:ea typeface="Calibri" panose="020F0502020204030204"/>
              <a:cs typeface="Calibri" panose="020F0502020204030204"/>
              <a:sym typeface="Calibri" panose="020F0502020204030204"/>
            </a:endParaRPr>
          </a:p>
          <a:p>
            <a:pPr marL="457200" lvl="0" indent="-457200">
              <a:lnSpc>
                <a:spcPct val="130000"/>
              </a:lnSpc>
              <a:buClr>
                <a:schemeClr val="accent1"/>
              </a:buClr>
              <a:buSzPts val="2800"/>
              <a:buFont typeface="Noto Sans Symbols"/>
              <a:buChar char="▪"/>
            </a:pPr>
            <a:r>
              <a:rPr lang="en-US" sz="2600" dirty="0">
                <a:solidFill>
                  <a:schemeClr val="dk1"/>
                </a:solidFill>
                <a:latin typeface="Calibri" panose="020F0502020204030204"/>
                <a:ea typeface="Calibri" panose="020F0502020204030204"/>
                <a:cs typeface="Calibri" panose="020F0502020204030204"/>
                <a:sym typeface="Calibri" panose="020F0502020204030204"/>
              </a:rPr>
              <a:t>Use usability testing </a:t>
            </a:r>
            <a:r>
              <a:rPr lang="en-US" sz="2600" dirty="0" err="1">
                <a:solidFill>
                  <a:schemeClr val="dk1"/>
                </a:solidFill>
                <a:latin typeface="Calibri" panose="020F0502020204030204"/>
                <a:ea typeface="Calibri" panose="020F0502020204030204"/>
                <a:cs typeface="Calibri" panose="020F0502020204030204"/>
                <a:sym typeface="Calibri" panose="020F0502020204030204"/>
              </a:rPr>
              <a:t>thường</a:t>
            </a:r>
            <a:r>
              <a:rPr lang="en-US" sz="2600" dirty="0">
                <a:solidFill>
                  <a:schemeClr val="dk1"/>
                </a:solidFill>
                <a:latin typeface="Calibri" panose="020F0502020204030204"/>
                <a:ea typeface="Calibri" panose="020F0502020204030204"/>
                <a:cs typeface="Calibri" panose="020F0502020204030204"/>
                <a:sym typeface="Calibri" panose="020F0502020204030204"/>
              </a:rPr>
              <a:t> </a:t>
            </a:r>
            <a:r>
              <a:rPr lang="en-US" sz="2600" dirty="0" err="1">
                <a:solidFill>
                  <a:schemeClr val="dk1"/>
                </a:solidFill>
                <a:latin typeface="Calibri" panose="020F0502020204030204"/>
                <a:ea typeface="Calibri" panose="020F0502020204030204"/>
                <a:cs typeface="Calibri" panose="020F0502020204030204"/>
                <a:sym typeface="Calibri" panose="020F0502020204030204"/>
              </a:rPr>
              <a:t>là</a:t>
            </a:r>
            <a:r>
              <a:rPr lang="en-US" sz="2600" dirty="0">
                <a:solidFill>
                  <a:schemeClr val="dk1"/>
                </a:solidFill>
                <a:latin typeface="Calibri" panose="020F0502020204030204"/>
                <a:ea typeface="Calibri" panose="020F0502020204030204"/>
                <a:cs typeface="Calibri" panose="020F0502020204030204"/>
                <a:sym typeface="Calibri" panose="020F0502020204030204"/>
              </a:rPr>
              <a:t> </a:t>
            </a:r>
            <a:r>
              <a:rPr lang="en-US" sz="2600" dirty="0" err="1">
                <a:solidFill>
                  <a:schemeClr val="dk1"/>
                </a:solidFill>
                <a:latin typeface="Calibri" panose="020F0502020204030204"/>
                <a:ea typeface="Calibri" panose="020F0502020204030204"/>
                <a:cs typeface="Calibri" panose="020F0502020204030204"/>
                <a:sym typeface="Calibri" panose="020F0502020204030204"/>
              </a:rPr>
              <a:t>giai</a:t>
            </a:r>
            <a:r>
              <a:rPr lang="en-US" sz="2600" dirty="0">
                <a:solidFill>
                  <a:schemeClr val="dk1"/>
                </a:solidFill>
                <a:latin typeface="Calibri" panose="020F0502020204030204"/>
                <a:ea typeface="Calibri" panose="020F0502020204030204"/>
                <a:cs typeface="Calibri" panose="020F0502020204030204"/>
                <a:sym typeface="Calibri" panose="020F0502020204030204"/>
              </a:rPr>
              <a:t> </a:t>
            </a:r>
            <a:r>
              <a:rPr lang="en-US" sz="2600" dirty="0" err="1">
                <a:solidFill>
                  <a:schemeClr val="dk1"/>
                </a:solidFill>
                <a:latin typeface="Calibri" panose="020F0502020204030204"/>
                <a:ea typeface="Calibri" panose="020F0502020204030204"/>
                <a:cs typeface="Calibri" panose="020F0502020204030204"/>
                <a:sym typeface="Calibri" panose="020F0502020204030204"/>
              </a:rPr>
              <a:t>đoạn</a:t>
            </a:r>
            <a:r>
              <a:rPr lang="en-US" sz="2600" dirty="0">
                <a:solidFill>
                  <a:schemeClr val="dk1"/>
                </a:solidFill>
                <a:latin typeface="Calibri" panose="020F0502020204030204"/>
                <a:ea typeface="Calibri" panose="020F0502020204030204"/>
                <a:cs typeface="Calibri" panose="020F0502020204030204"/>
                <a:sym typeface="Calibri" panose="020F0502020204030204"/>
              </a:rPr>
              <a:t> </a:t>
            </a:r>
            <a:r>
              <a:rPr lang="en-US" sz="2600" dirty="0" err="1">
                <a:solidFill>
                  <a:schemeClr val="dk1"/>
                </a:solidFill>
                <a:latin typeface="Calibri" panose="020F0502020204030204"/>
                <a:ea typeface="Calibri" panose="020F0502020204030204"/>
                <a:cs typeface="Calibri" panose="020F0502020204030204"/>
                <a:sym typeface="Calibri" panose="020F0502020204030204"/>
              </a:rPr>
              <a:t>nằm</a:t>
            </a:r>
            <a:r>
              <a:rPr lang="en-US" sz="2600" dirty="0">
                <a:solidFill>
                  <a:schemeClr val="dk1"/>
                </a:solidFill>
                <a:latin typeface="Calibri" panose="020F0502020204030204"/>
                <a:ea typeface="Calibri" panose="020F0502020204030204"/>
                <a:cs typeface="Calibri" panose="020F0502020204030204"/>
                <a:sym typeface="Calibri" panose="020F0502020204030204"/>
              </a:rPr>
              <a:t> </a:t>
            </a:r>
            <a:r>
              <a:rPr lang="en-US" sz="2600" dirty="0" err="1">
                <a:solidFill>
                  <a:schemeClr val="dk1"/>
                </a:solidFill>
                <a:latin typeface="Calibri" panose="020F0502020204030204"/>
                <a:ea typeface="Calibri" panose="020F0502020204030204"/>
                <a:cs typeface="Calibri" panose="020F0502020204030204"/>
                <a:sym typeface="Calibri" panose="020F0502020204030204"/>
              </a:rPr>
              <a:t>giữa</a:t>
            </a:r>
            <a:r>
              <a:rPr lang="en-US" sz="2600" dirty="0">
                <a:solidFill>
                  <a:schemeClr val="dk1"/>
                </a:solidFill>
                <a:latin typeface="Calibri" panose="020F0502020204030204"/>
                <a:ea typeface="Calibri" panose="020F0502020204030204"/>
                <a:cs typeface="Calibri" panose="020F0502020204030204"/>
                <a:sym typeface="Calibri" panose="020F0502020204030204"/>
              </a:rPr>
              <a:t> 2 </a:t>
            </a:r>
            <a:r>
              <a:rPr lang="en-US" sz="2600" dirty="0" err="1">
                <a:solidFill>
                  <a:schemeClr val="dk1"/>
                </a:solidFill>
                <a:latin typeface="Calibri" panose="020F0502020204030204"/>
                <a:ea typeface="Calibri" panose="020F0502020204030204"/>
                <a:cs typeface="Calibri" panose="020F0502020204030204"/>
                <a:sym typeface="Calibri" panose="020F0502020204030204"/>
              </a:rPr>
              <a:t>giai</a:t>
            </a:r>
            <a:r>
              <a:rPr lang="en-US" sz="2600" dirty="0">
                <a:solidFill>
                  <a:schemeClr val="dk1"/>
                </a:solidFill>
                <a:latin typeface="Calibri" panose="020F0502020204030204"/>
                <a:ea typeface="Calibri" panose="020F0502020204030204"/>
                <a:cs typeface="Calibri" panose="020F0502020204030204"/>
                <a:sym typeface="Calibri" panose="020F0502020204030204"/>
              </a:rPr>
              <a:t> </a:t>
            </a:r>
            <a:r>
              <a:rPr lang="en-US" sz="2600" dirty="0" err="1">
                <a:solidFill>
                  <a:schemeClr val="dk1"/>
                </a:solidFill>
                <a:latin typeface="Calibri" panose="020F0502020204030204"/>
                <a:ea typeface="Calibri" panose="020F0502020204030204"/>
                <a:cs typeface="Calibri" panose="020F0502020204030204"/>
                <a:sym typeface="Calibri" panose="020F0502020204030204"/>
              </a:rPr>
              <a:t>đoạn</a:t>
            </a:r>
            <a:r>
              <a:rPr lang="en-US" sz="2600" dirty="0">
                <a:solidFill>
                  <a:schemeClr val="dk1"/>
                </a:solidFill>
                <a:latin typeface="Calibri" panose="020F0502020204030204"/>
                <a:ea typeface="Calibri" panose="020F0502020204030204"/>
                <a:cs typeface="Calibri" panose="020F0502020204030204"/>
                <a:sym typeface="Calibri" panose="020F0502020204030204"/>
              </a:rPr>
              <a:t> </a:t>
            </a:r>
            <a:r>
              <a:rPr lang="en-US" sz="2600" dirty="0" err="1">
                <a:solidFill>
                  <a:schemeClr val="dk1"/>
                </a:solidFill>
                <a:latin typeface="Calibri" panose="020F0502020204030204"/>
                <a:ea typeface="Calibri" panose="020F0502020204030204"/>
                <a:cs typeface="Calibri" panose="020F0502020204030204"/>
                <a:sym typeface="Calibri" panose="020F0502020204030204"/>
              </a:rPr>
              <a:t>này</a:t>
            </a:r>
            <a:r>
              <a:rPr lang="en-US" sz="2600" dirty="0">
                <a:solidFill>
                  <a:schemeClr val="dk1"/>
                </a:solidFill>
                <a:latin typeface="Calibri" panose="020F0502020204030204"/>
                <a:ea typeface="Calibri" panose="020F0502020204030204"/>
                <a:cs typeface="Calibri" panose="020F0502020204030204"/>
                <a:sym typeface="Calibri" panose="020F0502020204030204"/>
              </a:rPr>
              <a:t>: Test potential solutions &amp; Refine final solution</a:t>
            </a:r>
            <a:endParaRPr sz="260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8" name="Google Shape;78;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buSzPts val="2800"/>
            </a:pPr>
            <a:r>
              <a:rPr lang="en-US" dirty="0"/>
              <a:t>2. </a:t>
            </a:r>
            <a:r>
              <a:rPr lang="en-US" dirty="0" err="1"/>
              <a:t>Quy</a:t>
            </a:r>
            <a:r>
              <a:rPr lang="en-US" dirty="0"/>
              <a:t> </a:t>
            </a:r>
            <a:r>
              <a:rPr lang="en-US" dirty="0" err="1"/>
              <a:t>trình</a:t>
            </a:r>
            <a:r>
              <a:rPr lang="en-US" dirty="0"/>
              <a:t> </a:t>
            </a:r>
            <a:r>
              <a:rPr lang="en-US" dirty="0" err="1"/>
              <a:t>trải</a:t>
            </a:r>
            <a:r>
              <a:rPr lang="en-US" dirty="0"/>
              <a:t> </a:t>
            </a:r>
            <a:r>
              <a:rPr lang="en-US" dirty="0" err="1"/>
              <a:t>nghiệm</a:t>
            </a:r>
            <a:r>
              <a:rPr lang="en-US" dirty="0"/>
              <a:t> </a:t>
            </a:r>
            <a:r>
              <a:rPr lang="en-US" dirty="0" err="1"/>
              <a:t>người</a:t>
            </a:r>
            <a:r>
              <a:rPr lang="en-US" dirty="0"/>
              <a:t> dung (UX Process)? </a:t>
            </a:r>
            <a:endParaRPr dirty="0"/>
          </a:p>
        </p:txBody>
      </p:sp>
      <p:pic>
        <p:nvPicPr>
          <p:cNvPr id="2" name="Picture 1" descr="1"/>
          <p:cNvPicPr>
            <a:picLocks noChangeAspect="1"/>
          </p:cNvPicPr>
          <p:nvPr/>
        </p:nvPicPr>
        <p:blipFill>
          <a:blip r:embed="rId3"/>
          <a:stretch>
            <a:fillRect/>
          </a:stretch>
        </p:blipFill>
        <p:spPr>
          <a:xfrm>
            <a:off x="6580505" y="942340"/>
            <a:ext cx="5791200" cy="5791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57199" y="1066800"/>
            <a:ext cx="8058728" cy="2673985"/>
          </a:xfrm>
          <a:prstGeom prst="rect">
            <a:avLst/>
          </a:prstGeom>
          <a:noFill/>
          <a:ln>
            <a:noFill/>
          </a:ln>
        </p:spPr>
        <p:txBody>
          <a:bodyPr spcFirstLastPara="1" wrap="square" lIns="91425" tIns="45700" rIns="91425" bIns="45700" anchor="t" anchorCtr="0">
            <a:spAutoFit/>
          </a:bodyPr>
          <a:lstStyle/>
          <a:p>
            <a:pPr lvl="1" indent="-457200">
              <a:lnSpc>
                <a:spcPct val="120000"/>
              </a:lnSpc>
              <a:spcBef>
                <a:spcPts val="0"/>
              </a:spcBef>
              <a:buClr>
                <a:srgbClr val="DD7471"/>
              </a:buClr>
              <a:buFont typeface="Wingdings" panose="05000000000000000000" pitchFamily="2" charset="2"/>
              <a:buChar char="§"/>
            </a:pPr>
            <a:r>
              <a:rPr lang="en-US" sz="2800" dirty="0" err="1">
                <a:latin typeface="Calibri" panose="020F0502020204030204" pitchFamily="34" charset="0"/>
                <a:cs typeface="Calibri" panose="020F0502020204030204" pitchFamily="34" charset="0"/>
                <a:sym typeface="+mn-ea"/>
              </a:rPr>
              <a:t>Phỏng</a:t>
            </a:r>
            <a:r>
              <a:rPr lang="en-US" sz="2800" dirty="0">
                <a:latin typeface="Calibri" panose="020F0502020204030204" pitchFamily="34" charset="0"/>
                <a:cs typeface="Calibri" panose="020F0502020204030204" pitchFamily="34" charset="0"/>
                <a:sym typeface="+mn-ea"/>
              </a:rPr>
              <a:t> </a:t>
            </a:r>
            <a:r>
              <a:rPr lang="en-US" sz="2800" dirty="0" err="1">
                <a:latin typeface="Calibri" panose="020F0502020204030204" pitchFamily="34" charset="0"/>
                <a:cs typeface="Calibri" panose="020F0502020204030204" pitchFamily="34" charset="0"/>
                <a:sym typeface="+mn-ea"/>
              </a:rPr>
              <a:t>vấn</a:t>
            </a:r>
            <a:endParaRPr lang="en-US" sz="2800" dirty="0">
              <a:latin typeface="Calibri" panose="020F0502020204030204" pitchFamily="34" charset="0"/>
              <a:cs typeface="Calibri" panose="020F0502020204030204" pitchFamily="34" charset="0"/>
            </a:endParaRPr>
          </a:p>
          <a:p>
            <a:pPr lvl="1" indent="-457200">
              <a:lnSpc>
                <a:spcPct val="120000"/>
              </a:lnSpc>
              <a:spcBef>
                <a:spcPts val="0"/>
              </a:spcBef>
              <a:buClr>
                <a:srgbClr val="DD7471"/>
              </a:buClr>
              <a:buFont typeface="Wingdings" panose="05000000000000000000" pitchFamily="2" charset="2"/>
              <a:buChar char="§"/>
            </a:pPr>
            <a:r>
              <a:rPr lang="en-US" sz="2800" dirty="0" err="1">
                <a:latin typeface="Calibri" panose="020F0502020204030204" pitchFamily="34" charset="0"/>
                <a:cs typeface="Calibri" panose="020F0502020204030204" pitchFamily="34" charset="0"/>
                <a:sym typeface="+mn-ea"/>
              </a:rPr>
              <a:t>Bảng</a:t>
            </a:r>
            <a:r>
              <a:rPr lang="en-US" sz="2800" dirty="0">
                <a:latin typeface="Calibri" panose="020F0502020204030204" pitchFamily="34" charset="0"/>
                <a:cs typeface="Calibri" panose="020F0502020204030204" pitchFamily="34" charset="0"/>
                <a:sym typeface="+mn-ea"/>
              </a:rPr>
              <a:t> </a:t>
            </a:r>
            <a:r>
              <a:rPr lang="en-US" sz="2800" dirty="0" err="1">
                <a:latin typeface="Calibri" panose="020F0502020204030204" pitchFamily="34" charset="0"/>
                <a:cs typeface="Calibri" panose="020F0502020204030204" pitchFamily="34" charset="0"/>
                <a:sym typeface="+mn-ea"/>
              </a:rPr>
              <a:t>câu</a:t>
            </a:r>
            <a:r>
              <a:rPr lang="en-US" sz="2800" dirty="0">
                <a:latin typeface="Calibri" panose="020F0502020204030204" pitchFamily="34" charset="0"/>
                <a:cs typeface="Calibri" panose="020F0502020204030204" pitchFamily="34" charset="0"/>
                <a:sym typeface="+mn-ea"/>
              </a:rPr>
              <a:t> </a:t>
            </a:r>
            <a:r>
              <a:rPr lang="en-US" sz="2800" dirty="0" err="1">
                <a:latin typeface="Calibri" panose="020F0502020204030204" pitchFamily="34" charset="0"/>
                <a:cs typeface="Calibri" panose="020F0502020204030204" pitchFamily="34" charset="0"/>
                <a:sym typeface="+mn-ea"/>
              </a:rPr>
              <a:t>hỏi</a:t>
            </a:r>
            <a:endParaRPr lang="en-US" sz="2800" b="0" dirty="0">
              <a:latin typeface="Calibri" panose="020F0502020204030204" pitchFamily="34" charset="0"/>
              <a:cs typeface="Calibri" panose="020F0502020204030204" pitchFamily="34" charset="0"/>
            </a:endParaRPr>
          </a:p>
          <a:p>
            <a:pPr lvl="1" indent="-457200">
              <a:lnSpc>
                <a:spcPct val="120000"/>
              </a:lnSpc>
              <a:spcBef>
                <a:spcPts val="0"/>
              </a:spcBef>
              <a:buClr>
                <a:srgbClr val="DD7471"/>
              </a:buClr>
              <a:buFont typeface="Wingdings" panose="05000000000000000000" pitchFamily="2" charset="2"/>
              <a:buChar char="§"/>
            </a:pPr>
            <a:r>
              <a:rPr lang="en-US" sz="2800" dirty="0" err="1">
                <a:latin typeface="Calibri" panose="020F0502020204030204" pitchFamily="34" charset="0"/>
                <a:cs typeface="Calibri" panose="020F0502020204030204" pitchFamily="34" charset="0"/>
                <a:sym typeface="+mn-ea"/>
              </a:rPr>
              <a:t>Tập</a:t>
            </a:r>
            <a:r>
              <a:rPr lang="en-US" sz="2800" dirty="0">
                <a:latin typeface="Calibri" panose="020F0502020204030204" pitchFamily="34" charset="0"/>
                <a:cs typeface="Calibri" panose="020F0502020204030204" pitchFamily="34" charset="0"/>
                <a:sym typeface="+mn-ea"/>
              </a:rPr>
              <a:t> </a:t>
            </a:r>
            <a:r>
              <a:rPr lang="en-US" sz="2800" dirty="0" err="1">
                <a:latin typeface="Calibri" panose="020F0502020204030204" pitchFamily="34" charset="0"/>
                <a:cs typeface="Calibri" panose="020F0502020204030204" pitchFamily="34" charset="0"/>
                <a:sym typeface="+mn-ea"/>
              </a:rPr>
              <a:t>trung</a:t>
            </a:r>
            <a:r>
              <a:rPr lang="en-US" sz="2800" dirty="0">
                <a:latin typeface="Calibri" panose="020F0502020204030204" pitchFamily="34" charset="0"/>
                <a:cs typeface="Calibri" panose="020F0502020204030204" pitchFamily="34" charset="0"/>
                <a:sym typeface="+mn-ea"/>
              </a:rPr>
              <a:t> </a:t>
            </a:r>
            <a:r>
              <a:rPr lang="en-US" sz="2800" dirty="0" err="1">
                <a:latin typeface="Calibri" panose="020F0502020204030204" pitchFamily="34" charset="0"/>
                <a:cs typeface="Calibri" panose="020F0502020204030204" pitchFamily="34" charset="0"/>
                <a:sym typeface="+mn-ea"/>
              </a:rPr>
              <a:t>nhóm</a:t>
            </a:r>
            <a:r>
              <a:rPr lang="en-US" sz="2800" dirty="0">
                <a:latin typeface="Calibri" panose="020F0502020204030204" pitchFamily="34" charset="0"/>
                <a:cs typeface="Calibri" panose="020F0502020204030204" pitchFamily="34" charset="0"/>
                <a:sym typeface="+mn-ea"/>
              </a:rPr>
              <a:t> </a:t>
            </a:r>
            <a:r>
              <a:rPr lang="en-US" sz="2800" dirty="0" err="1">
                <a:latin typeface="Calibri" panose="020F0502020204030204" pitchFamily="34" charset="0"/>
                <a:cs typeface="Calibri" panose="020F0502020204030204" pitchFamily="34" charset="0"/>
                <a:sym typeface="+mn-ea"/>
              </a:rPr>
              <a:t>mục</a:t>
            </a:r>
            <a:r>
              <a:rPr lang="en-US" sz="2800" dirty="0">
                <a:latin typeface="Calibri" panose="020F0502020204030204" pitchFamily="34" charset="0"/>
                <a:cs typeface="Calibri" panose="020F0502020204030204" pitchFamily="34" charset="0"/>
                <a:sym typeface="+mn-ea"/>
              </a:rPr>
              <a:t> </a:t>
            </a:r>
            <a:r>
              <a:rPr lang="en-US" sz="2800" dirty="0" err="1">
                <a:latin typeface="Calibri" panose="020F0502020204030204" pitchFamily="34" charset="0"/>
                <a:cs typeface="Calibri" panose="020F0502020204030204" pitchFamily="34" charset="0"/>
                <a:sym typeface="+mn-ea"/>
              </a:rPr>
              <a:t>tiêu</a:t>
            </a:r>
            <a:endParaRPr lang="en-US" sz="2800" dirty="0">
              <a:latin typeface="Calibri" panose="020F0502020204030204" pitchFamily="34" charset="0"/>
              <a:cs typeface="Calibri" panose="020F0502020204030204" pitchFamily="34" charset="0"/>
            </a:endParaRPr>
          </a:p>
          <a:p>
            <a:pPr lvl="1" indent="-457200">
              <a:lnSpc>
                <a:spcPct val="120000"/>
              </a:lnSpc>
              <a:spcBef>
                <a:spcPts val="0"/>
              </a:spcBef>
              <a:buClr>
                <a:srgbClr val="DD7471"/>
              </a:buClr>
              <a:buFont typeface="Wingdings" panose="05000000000000000000" pitchFamily="2" charset="2"/>
              <a:buChar char="§"/>
            </a:pPr>
            <a:r>
              <a:rPr lang="en-US" sz="2800" dirty="0" err="1">
                <a:latin typeface="Calibri" panose="020F0502020204030204" pitchFamily="34" charset="0"/>
                <a:cs typeface="Calibri" panose="020F0502020204030204" pitchFamily="34" charset="0"/>
                <a:sym typeface="+mn-ea"/>
              </a:rPr>
              <a:t>Quan</a:t>
            </a:r>
            <a:r>
              <a:rPr lang="en-US" sz="2800" dirty="0">
                <a:latin typeface="Calibri" panose="020F0502020204030204" pitchFamily="34" charset="0"/>
                <a:cs typeface="Calibri" panose="020F0502020204030204" pitchFamily="34" charset="0"/>
                <a:sym typeface="+mn-ea"/>
              </a:rPr>
              <a:t> </a:t>
            </a:r>
            <a:r>
              <a:rPr lang="en-US" sz="2800" dirty="0" err="1">
                <a:latin typeface="Calibri" panose="020F0502020204030204" pitchFamily="34" charset="0"/>
                <a:cs typeface="Calibri" panose="020F0502020204030204" pitchFamily="34" charset="0"/>
                <a:sym typeface="+mn-ea"/>
              </a:rPr>
              <a:t>sát</a:t>
            </a:r>
            <a:endParaRPr lang="en-US" sz="2800" b="0" dirty="0">
              <a:latin typeface="Calibri" panose="020F0502020204030204" pitchFamily="34" charset="0"/>
              <a:cs typeface="Calibri" panose="020F0502020204030204" pitchFamily="34" charset="0"/>
            </a:endParaRPr>
          </a:p>
          <a:p>
            <a:pPr lvl="1" indent="-457200">
              <a:lnSpc>
                <a:spcPct val="120000"/>
              </a:lnSpc>
              <a:spcBef>
                <a:spcPts val="0"/>
              </a:spcBef>
              <a:buClr>
                <a:srgbClr val="DD7471"/>
              </a:buClr>
              <a:buFont typeface="Wingdings" panose="05000000000000000000" pitchFamily="2" charset="2"/>
              <a:buChar char="§"/>
            </a:pPr>
            <a:r>
              <a:rPr lang="en-US" sz="2800" dirty="0" err="1">
                <a:latin typeface="Calibri" panose="020F0502020204030204" pitchFamily="34" charset="0"/>
                <a:cs typeface="Calibri" panose="020F0502020204030204" pitchFamily="34" charset="0"/>
                <a:sym typeface="+mn-ea"/>
              </a:rPr>
              <a:t>Nghiên</a:t>
            </a:r>
            <a:r>
              <a:rPr lang="en-US" sz="2800" dirty="0">
                <a:latin typeface="Calibri" panose="020F0502020204030204" pitchFamily="34" charset="0"/>
                <a:cs typeface="Calibri" panose="020F0502020204030204" pitchFamily="34" charset="0"/>
                <a:sym typeface="+mn-ea"/>
              </a:rPr>
              <a:t> </a:t>
            </a:r>
            <a:r>
              <a:rPr lang="en-US" sz="2800" dirty="0" err="1">
                <a:latin typeface="Calibri" panose="020F0502020204030204" pitchFamily="34" charset="0"/>
                <a:cs typeface="Calibri" panose="020F0502020204030204" pitchFamily="34" charset="0"/>
                <a:sym typeface="+mn-ea"/>
              </a:rPr>
              <a:t>cứu</a:t>
            </a:r>
            <a:r>
              <a:rPr lang="en-US" sz="2800" dirty="0">
                <a:latin typeface="Calibri" panose="020F0502020204030204" pitchFamily="34" charset="0"/>
                <a:cs typeface="Calibri" panose="020F0502020204030204" pitchFamily="34" charset="0"/>
                <a:sym typeface="+mn-ea"/>
              </a:rPr>
              <a:t> </a:t>
            </a:r>
            <a:r>
              <a:rPr lang="en-US" sz="2800" dirty="0" err="1">
                <a:latin typeface="Calibri" panose="020F0502020204030204" pitchFamily="34" charset="0"/>
                <a:cs typeface="Calibri" panose="020F0502020204030204" pitchFamily="34" charset="0"/>
                <a:sym typeface="+mn-ea"/>
              </a:rPr>
              <a:t>tài</a:t>
            </a:r>
            <a:r>
              <a:rPr lang="en-US" sz="2800" dirty="0">
                <a:latin typeface="Calibri" panose="020F0502020204030204" pitchFamily="34" charset="0"/>
                <a:cs typeface="Calibri" panose="020F0502020204030204" pitchFamily="34" charset="0"/>
                <a:sym typeface="+mn-ea"/>
              </a:rPr>
              <a:t> </a:t>
            </a:r>
            <a:r>
              <a:rPr lang="en-US" sz="2800" dirty="0" err="1">
                <a:latin typeface="Calibri" panose="020F0502020204030204" pitchFamily="34" charset="0"/>
                <a:cs typeface="Calibri" panose="020F0502020204030204" pitchFamily="34" charset="0"/>
                <a:sym typeface="+mn-ea"/>
              </a:rPr>
              <a:t>liệu</a:t>
            </a:r>
            <a:endParaRPr sz="260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8" name="Google Shape;78;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3. </a:t>
            </a:r>
            <a:r>
              <a:rPr lang="en-US" dirty="0" err="1"/>
              <a:t>Các phương pháp nghiên cứu</a:t>
            </a:r>
            <a:endParaRPr dirty="0"/>
          </a:p>
        </p:txBody>
      </p:sp>
      <p:pic>
        <p:nvPicPr>
          <p:cNvPr id="2" name="Picture 1" descr="4"/>
          <p:cNvPicPr>
            <a:picLocks noChangeAspect="1"/>
          </p:cNvPicPr>
          <p:nvPr/>
        </p:nvPicPr>
        <p:blipFill>
          <a:blip r:embed="rId3"/>
          <a:stretch>
            <a:fillRect/>
          </a:stretch>
        </p:blipFill>
        <p:spPr>
          <a:xfrm>
            <a:off x="7173595" y="688975"/>
            <a:ext cx="4385945" cy="4385945"/>
          </a:xfrm>
          <a:prstGeom prst="rect">
            <a:avLst/>
          </a:prstGeom>
        </p:spPr>
      </p:pic>
      <p:pic>
        <p:nvPicPr>
          <p:cNvPr id="3" name="Picture 2" descr="6"/>
          <p:cNvPicPr>
            <a:picLocks noChangeAspect="1"/>
          </p:cNvPicPr>
          <p:nvPr/>
        </p:nvPicPr>
        <p:blipFill>
          <a:blip r:embed="rId4"/>
          <a:stretch>
            <a:fillRect/>
          </a:stretch>
        </p:blipFill>
        <p:spPr>
          <a:xfrm>
            <a:off x="4613910" y="2749550"/>
            <a:ext cx="4011930" cy="40119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57200" y="1066800"/>
            <a:ext cx="7002780" cy="4741545"/>
          </a:xfrm>
          <a:prstGeom prst="rect">
            <a:avLst/>
          </a:prstGeom>
          <a:noFill/>
          <a:ln>
            <a:noFill/>
          </a:ln>
        </p:spPr>
        <p:txBody>
          <a:bodyPr spcFirstLastPara="1" wrap="square" lIns="91425" tIns="45700" rIns="91425" bIns="45700" anchor="t" anchorCtr="0">
            <a:spAutoFit/>
          </a:bodyPr>
          <a:lstStyle/>
          <a:p>
            <a:pPr lvl="1" indent="-457200">
              <a:lnSpc>
                <a:spcPct val="120000"/>
              </a:lnSpc>
              <a:spcBef>
                <a:spcPts val="0"/>
              </a:spcBef>
              <a:buClr>
                <a:srgbClr val="DD7471"/>
              </a:buClr>
              <a:buFont typeface="Wingdings" panose="05000000000000000000" pitchFamily="2" charset="2"/>
              <a:buChar char="§"/>
            </a:pPr>
            <a:r>
              <a:rPr lang="en-US" sz="2800">
                <a:latin typeface="Calibri" panose="020F0502020204030204" pitchFamily="34" charset="0"/>
                <a:cs typeface="Calibri" panose="020F0502020204030204" pitchFamily="34" charset="0"/>
                <a:sym typeface="+mn-ea"/>
              </a:rPr>
              <a:t>Thiết kế người dùng làm trung tâm (User-centered design - UCD) là phương pháp thiết kế sản phẩm, dịch vụ hoặc hệ thống, tập trung vào nhu cầu và mong muốn của người dùng. </a:t>
            </a:r>
          </a:p>
          <a:p>
            <a:pPr lvl="1" indent="-457200">
              <a:lnSpc>
                <a:spcPct val="120000"/>
              </a:lnSpc>
              <a:spcBef>
                <a:spcPts val="0"/>
              </a:spcBef>
              <a:buClr>
                <a:srgbClr val="DD7471"/>
              </a:buClr>
              <a:buFont typeface="Wingdings" panose="05000000000000000000" pitchFamily="2" charset="2"/>
              <a:buChar char="§"/>
            </a:pPr>
            <a:r>
              <a:rPr lang="en-US" sz="2800">
                <a:latin typeface="Calibri" panose="020F0502020204030204" pitchFamily="34" charset="0"/>
                <a:cs typeface="Calibri" panose="020F0502020204030204" pitchFamily="34" charset="0"/>
                <a:sym typeface="+mn-ea"/>
              </a:rPr>
              <a:t>Người dùng được đưa vào tâm trí của quá trình thiết kế, bắt đầu từ việc tìm hiểu và hiểu về nhu cầu của họ, áp dụng qua các giai đoạn thiết kế và phát triển sản phẩm, đến khi sản phẩm được đưa ra thị trường.</a:t>
            </a:r>
          </a:p>
        </p:txBody>
      </p:sp>
      <p:sp>
        <p:nvSpPr>
          <p:cNvPr id="78" name="Google Shape;78;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4. </a:t>
            </a:r>
            <a:r>
              <a:rPr lang="en-US" dirty="0" err="1"/>
              <a:t>Thiết kế người dùng làm trung tâm</a:t>
            </a:r>
            <a:endParaRPr dirty="0"/>
          </a:p>
        </p:txBody>
      </p:sp>
      <p:pic>
        <p:nvPicPr>
          <p:cNvPr id="2" name="Picture 1" descr="12"/>
          <p:cNvPicPr>
            <a:picLocks noChangeAspect="1"/>
          </p:cNvPicPr>
          <p:nvPr/>
        </p:nvPicPr>
        <p:blipFill>
          <a:blip r:embed="rId3"/>
          <a:stretch>
            <a:fillRect/>
          </a:stretch>
        </p:blipFill>
        <p:spPr>
          <a:xfrm>
            <a:off x="7545705" y="1193165"/>
            <a:ext cx="4318635" cy="43186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57200" y="1066800"/>
            <a:ext cx="5749290" cy="4741545"/>
          </a:xfrm>
          <a:prstGeom prst="rect">
            <a:avLst/>
          </a:prstGeom>
          <a:noFill/>
          <a:ln>
            <a:noFill/>
          </a:ln>
        </p:spPr>
        <p:txBody>
          <a:bodyPr spcFirstLastPara="1" wrap="square" lIns="91425" tIns="45700" rIns="91425" bIns="45700" anchor="t" anchorCtr="0">
            <a:spAutoFit/>
          </a:bodyPr>
          <a:lstStyle/>
          <a:p>
            <a:pPr lvl="1" indent="-457200">
              <a:lnSpc>
                <a:spcPct val="120000"/>
              </a:lnSpc>
              <a:spcBef>
                <a:spcPts val="0"/>
              </a:spcBef>
              <a:buClr>
                <a:srgbClr val="DD7471"/>
              </a:buClr>
              <a:buFont typeface="Wingdings" panose="05000000000000000000" pitchFamily="2" charset="2"/>
              <a:buChar char="§"/>
            </a:pPr>
            <a:r>
              <a:rPr lang="en-US" sz="2800">
                <a:latin typeface="Calibri" panose="020F0502020204030204" pitchFamily="34" charset="0"/>
                <a:cs typeface="Calibri" panose="020F0502020204030204" pitchFamily="34" charset="0"/>
                <a:sym typeface="+mn-ea"/>
              </a:rPr>
              <a:t>UCD yêu cầu các nhà thiết kế tập trung vào người dùng cuối, nghiên cứu và hiểu rõ hơn về họ, và sử dụng thông tin này để định hình sản phẩm. </a:t>
            </a:r>
          </a:p>
          <a:p>
            <a:pPr lvl="1" indent="-457200">
              <a:lnSpc>
                <a:spcPct val="120000"/>
              </a:lnSpc>
              <a:spcBef>
                <a:spcPts val="0"/>
              </a:spcBef>
              <a:buClr>
                <a:srgbClr val="DD7471"/>
              </a:buClr>
              <a:buFont typeface="Wingdings" panose="05000000000000000000" pitchFamily="2" charset="2"/>
              <a:buChar char="§"/>
            </a:pPr>
            <a:r>
              <a:rPr lang="en-US" sz="2800">
                <a:latin typeface="Calibri" panose="020F0502020204030204" pitchFamily="34" charset="0"/>
                <a:cs typeface="Calibri" panose="020F0502020204030204" pitchFamily="34" charset="0"/>
                <a:sym typeface="+mn-ea"/>
              </a:rPr>
              <a:t>Các quá trình như sơ đồ nhiệm vụ, người dùng giả, kiểm tra người dùng và phản hồi người dùng được sử dụng để thu thập thông tin và đánh giá sản phẩm với từng người dùng cụ thể.</a:t>
            </a:r>
          </a:p>
        </p:txBody>
      </p:sp>
      <p:sp>
        <p:nvSpPr>
          <p:cNvPr id="78" name="Google Shape;78;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4. </a:t>
            </a:r>
            <a:r>
              <a:rPr lang="en-US" dirty="0" err="1"/>
              <a:t>Thiết kế người dùng làm trung tâm</a:t>
            </a:r>
            <a:endParaRPr dirty="0"/>
          </a:p>
        </p:txBody>
      </p:sp>
      <p:pic>
        <p:nvPicPr>
          <p:cNvPr id="2" name="Picture 1" descr="10"/>
          <p:cNvPicPr>
            <a:picLocks noChangeAspect="1"/>
          </p:cNvPicPr>
          <p:nvPr/>
        </p:nvPicPr>
        <p:blipFill>
          <a:blip r:embed="rId3"/>
          <a:stretch>
            <a:fillRect/>
          </a:stretch>
        </p:blipFill>
        <p:spPr>
          <a:xfrm>
            <a:off x="5787390" y="254635"/>
            <a:ext cx="6603365" cy="660336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57200" y="1066800"/>
            <a:ext cx="5864225" cy="4224655"/>
          </a:xfrm>
          <a:prstGeom prst="rect">
            <a:avLst/>
          </a:prstGeom>
          <a:noFill/>
          <a:ln>
            <a:noFill/>
          </a:ln>
        </p:spPr>
        <p:txBody>
          <a:bodyPr spcFirstLastPara="1" wrap="square" lIns="91425" tIns="45700" rIns="91425" bIns="45700" anchor="t" anchorCtr="0">
            <a:spAutoFit/>
          </a:bodyPr>
          <a:lstStyle/>
          <a:p>
            <a:pPr lvl="1" indent="-457200">
              <a:lnSpc>
                <a:spcPct val="120000"/>
              </a:lnSpc>
              <a:spcBef>
                <a:spcPts val="0"/>
              </a:spcBef>
              <a:buClr>
                <a:srgbClr val="DD7471"/>
              </a:buClr>
              <a:buFont typeface="Wingdings" panose="05000000000000000000" pitchFamily="2" charset="2"/>
              <a:buChar char="§"/>
            </a:pPr>
            <a:r>
              <a:rPr lang="en-US" sz="2800">
                <a:latin typeface="Calibri" panose="020F0502020204030204" pitchFamily="34" charset="0"/>
                <a:cs typeface="Calibri" panose="020F0502020204030204" pitchFamily="34" charset="0"/>
                <a:sym typeface="+mn-ea"/>
              </a:rPr>
              <a:t>UCD giúp sản phẩm hoặc dịch vụ tạo ra trải nghiệm tốt nhất cho người dùng, nâng cao hiệu quả và đáp ứng nhu cầu của khách hàng. </a:t>
            </a:r>
          </a:p>
          <a:p>
            <a:pPr lvl="1" indent="-457200">
              <a:lnSpc>
                <a:spcPct val="120000"/>
              </a:lnSpc>
              <a:spcBef>
                <a:spcPts val="0"/>
              </a:spcBef>
              <a:buClr>
                <a:srgbClr val="DD7471"/>
              </a:buClr>
              <a:buFont typeface="Wingdings" panose="05000000000000000000" pitchFamily="2" charset="2"/>
              <a:buChar char="§"/>
            </a:pPr>
            <a:r>
              <a:rPr lang="en-US" sz="2800">
                <a:latin typeface="Calibri" panose="020F0502020204030204" pitchFamily="34" charset="0"/>
                <a:cs typeface="Calibri" panose="020F0502020204030204" pitchFamily="34" charset="0"/>
                <a:sym typeface="+mn-ea"/>
              </a:rPr>
              <a:t>UCD cũng có thể giảm thiểu rủi ro khi đưa sản phẩm mới ra thị trường bằng cách đảm bảo rằng sản phẩm đáp ứng được nhu cầu của người dùng.</a:t>
            </a:r>
          </a:p>
        </p:txBody>
      </p:sp>
      <p:sp>
        <p:nvSpPr>
          <p:cNvPr id="78" name="Google Shape;78;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4. </a:t>
            </a:r>
            <a:r>
              <a:rPr lang="en-US" dirty="0" err="1"/>
              <a:t>Thiết kế người dùng làm trung tâm</a:t>
            </a:r>
            <a:endParaRPr dirty="0"/>
          </a:p>
        </p:txBody>
      </p:sp>
      <p:pic>
        <p:nvPicPr>
          <p:cNvPr id="2" name="Picture 1" descr="10"/>
          <p:cNvPicPr>
            <a:picLocks noChangeAspect="1"/>
          </p:cNvPicPr>
          <p:nvPr/>
        </p:nvPicPr>
        <p:blipFill>
          <a:blip r:embed="rId3"/>
          <a:stretch>
            <a:fillRect/>
          </a:stretch>
        </p:blipFill>
        <p:spPr>
          <a:xfrm>
            <a:off x="5787390" y="254635"/>
            <a:ext cx="6603365" cy="660336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57200" y="1066800"/>
            <a:ext cx="7454900" cy="2673985"/>
          </a:xfrm>
          <a:prstGeom prst="rect">
            <a:avLst/>
          </a:prstGeom>
          <a:noFill/>
          <a:ln>
            <a:noFill/>
          </a:ln>
        </p:spPr>
        <p:txBody>
          <a:bodyPr spcFirstLastPara="1" wrap="square" lIns="91425" tIns="45700" rIns="91425" bIns="45700" anchor="t" anchorCtr="0">
            <a:spAutoFit/>
          </a:bodyPr>
          <a:lstStyle/>
          <a:p>
            <a:pPr lvl="1" indent="-457200">
              <a:lnSpc>
                <a:spcPct val="120000"/>
              </a:lnSpc>
              <a:spcBef>
                <a:spcPts val="0"/>
              </a:spcBef>
              <a:buClr>
                <a:srgbClr val="DD7471"/>
              </a:buClr>
              <a:buFont typeface="Wingdings" panose="05000000000000000000" pitchFamily="2" charset="2"/>
              <a:buChar char="§"/>
            </a:pPr>
            <a:r>
              <a:rPr lang="en-US" sz="2800">
                <a:latin typeface="Calibri" panose="020F0502020204030204" pitchFamily="34" charset="0"/>
                <a:cs typeface="Calibri" panose="020F0502020204030204" pitchFamily="34" charset="0"/>
                <a:sym typeface="+mn-ea"/>
              </a:rPr>
              <a:t>Sơ đồ nhiệm vụ (Task analysis)</a:t>
            </a:r>
          </a:p>
          <a:p>
            <a:pPr lvl="1" indent="-457200">
              <a:lnSpc>
                <a:spcPct val="120000"/>
              </a:lnSpc>
              <a:spcBef>
                <a:spcPts val="0"/>
              </a:spcBef>
              <a:buClr>
                <a:srgbClr val="DD7471"/>
              </a:buClr>
              <a:buFont typeface="Wingdings" panose="05000000000000000000" pitchFamily="2" charset="2"/>
              <a:buChar char="§"/>
            </a:pPr>
            <a:r>
              <a:rPr lang="en-US" sz="2800">
                <a:latin typeface="Calibri" panose="020F0502020204030204" pitchFamily="34" charset="0"/>
                <a:cs typeface="Calibri" panose="020F0502020204030204" pitchFamily="34" charset="0"/>
                <a:sym typeface="+mn-ea"/>
              </a:rPr>
              <a:t>Người dùng giả (Personas)</a:t>
            </a:r>
          </a:p>
          <a:p>
            <a:pPr lvl="1" indent="-457200">
              <a:lnSpc>
                <a:spcPct val="120000"/>
              </a:lnSpc>
              <a:spcBef>
                <a:spcPts val="0"/>
              </a:spcBef>
              <a:buClr>
                <a:srgbClr val="DD7471"/>
              </a:buClr>
              <a:buFont typeface="Wingdings" panose="05000000000000000000" pitchFamily="2" charset="2"/>
              <a:buChar char="§"/>
            </a:pPr>
            <a:r>
              <a:rPr lang="en-US" sz="2800">
                <a:latin typeface="Calibri" panose="020F0502020204030204" pitchFamily="34" charset="0"/>
                <a:cs typeface="Calibri" panose="020F0502020204030204" pitchFamily="34" charset="0"/>
                <a:sym typeface="+mn-ea"/>
              </a:rPr>
              <a:t>Kiểm tra người dùng (Usability testing)</a:t>
            </a:r>
          </a:p>
          <a:p>
            <a:pPr lvl="1" indent="-457200">
              <a:lnSpc>
                <a:spcPct val="120000"/>
              </a:lnSpc>
              <a:spcBef>
                <a:spcPts val="0"/>
              </a:spcBef>
              <a:buClr>
                <a:srgbClr val="DD7471"/>
              </a:buClr>
              <a:buFont typeface="Wingdings" panose="05000000000000000000" pitchFamily="2" charset="2"/>
              <a:buChar char="§"/>
            </a:pPr>
            <a:r>
              <a:rPr lang="en-US" sz="2800">
                <a:latin typeface="Calibri" panose="020F0502020204030204" pitchFamily="34" charset="0"/>
                <a:cs typeface="Calibri" panose="020F0502020204030204" pitchFamily="34" charset="0"/>
                <a:sym typeface="+mn-ea"/>
              </a:rPr>
              <a:t>Phản hồi người dùng (User feedback)</a:t>
            </a:r>
          </a:p>
          <a:p>
            <a:pPr lvl="1" indent="-457200">
              <a:lnSpc>
                <a:spcPct val="120000"/>
              </a:lnSpc>
              <a:spcBef>
                <a:spcPts val="0"/>
              </a:spcBef>
              <a:buClr>
                <a:srgbClr val="DD7471"/>
              </a:buClr>
              <a:buFont typeface="Wingdings" panose="05000000000000000000" pitchFamily="2" charset="2"/>
              <a:buChar char="§"/>
            </a:pPr>
            <a:r>
              <a:rPr lang="en-US" sz="2800">
                <a:latin typeface="Calibri" panose="020F0502020204030204" pitchFamily="34" charset="0"/>
                <a:cs typeface="Calibri" panose="020F0502020204030204" pitchFamily="34" charset="0"/>
                <a:sym typeface="+mn-ea"/>
              </a:rPr>
              <a:t>Thiết kế thử nghiệm (Prototype design)</a:t>
            </a:r>
          </a:p>
        </p:txBody>
      </p:sp>
      <p:sp>
        <p:nvSpPr>
          <p:cNvPr id="78" name="Google Shape;78;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5. </a:t>
            </a:r>
            <a:r>
              <a:rPr lang="en-US" dirty="0" err="1"/>
              <a:t>Một số phương pháp UCD</a:t>
            </a:r>
            <a:endParaRPr dirty="0"/>
          </a:p>
        </p:txBody>
      </p:sp>
      <p:pic>
        <p:nvPicPr>
          <p:cNvPr id="2" name="Picture 1" descr="7"/>
          <p:cNvPicPr>
            <a:picLocks noChangeAspect="1"/>
          </p:cNvPicPr>
          <p:nvPr/>
        </p:nvPicPr>
        <p:blipFill>
          <a:blip r:embed="rId3"/>
          <a:stretch>
            <a:fillRect/>
          </a:stretch>
        </p:blipFill>
        <p:spPr>
          <a:xfrm>
            <a:off x="6819900" y="2070735"/>
            <a:ext cx="5372100" cy="5372100"/>
          </a:xfrm>
          <a:prstGeom prst="rect">
            <a:avLst/>
          </a:prstGeom>
        </p:spPr>
      </p:pic>
      <p:pic>
        <p:nvPicPr>
          <p:cNvPr id="3" name="Picture 2" descr="2"/>
          <p:cNvPicPr>
            <a:picLocks noChangeAspect="1"/>
          </p:cNvPicPr>
          <p:nvPr/>
        </p:nvPicPr>
        <p:blipFill>
          <a:blip r:embed="rId4"/>
          <a:stretch>
            <a:fillRect/>
          </a:stretch>
        </p:blipFill>
        <p:spPr>
          <a:xfrm flipH="1">
            <a:off x="8087360" y="782955"/>
            <a:ext cx="2957830" cy="29578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57200" y="1066800"/>
            <a:ext cx="6918960" cy="3707765"/>
          </a:xfrm>
          <a:prstGeom prst="rect">
            <a:avLst/>
          </a:prstGeom>
          <a:noFill/>
          <a:ln>
            <a:noFill/>
          </a:ln>
        </p:spPr>
        <p:txBody>
          <a:bodyPr spcFirstLastPara="1" wrap="square" lIns="91425" tIns="45700" rIns="91425" bIns="45700" anchor="t" anchorCtr="0">
            <a:spAutoFit/>
          </a:bodyPr>
          <a:lstStyle/>
          <a:p>
            <a:pPr marL="457200" lvl="1"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Sơ đồ nhiệm vụ (Task analysis): </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Là cách để hiểu công việc, tác vụ của người dùng trong một hệ thống hoặc sản phẩm cụ thể. </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Xác định các hoạt động, chức năng của sản phẩm cần phải đáp ứng và đánh giá tính khả thi của nó.</a:t>
            </a:r>
          </a:p>
        </p:txBody>
      </p:sp>
      <p:sp>
        <p:nvSpPr>
          <p:cNvPr id="78" name="Google Shape;78;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5. </a:t>
            </a:r>
            <a:r>
              <a:rPr lang="en-US" dirty="0" err="1"/>
              <a:t>Một số phương pháp UCD</a:t>
            </a:r>
            <a:endParaRPr dirty="0"/>
          </a:p>
        </p:txBody>
      </p:sp>
      <p:pic>
        <p:nvPicPr>
          <p:cNvPr id="2" name="Picture 1" descr="7"/>
          <p:cNvPicPr>
            <a:picLocks noChangeAspect="1"/>
          </p:cNvPicPr>
          <p:nvPr/>
        </p:nvPicPr>
        <p:blipFill>
          <a:blip r:embed="rId3"/>
          <a:stretch>
            <a:fillRect/>
          </a:stretch>
        </p:blipFill>
        <p:spPr>
          <a:xfrm>
            <a:off x="6819900" y="2070735"/>
            <a:ext cx="5372100" cy="5372100"/>
          </a:xfrm>
          <a:prstGeom prst="rect">
            <a:avLst/>
          </a:prstGeom>
        </p:spPr>
      </p:pic>
      <p:pic>
        <p:nvPicPr>
          <p:cNvPr id="3" name="Picture 2" descr="2"/>
          <p:cNvPicPr>
            <a:picLocks noChangeAspect="1"/>
          </p:cNvPicPr>
          <p:nvPr/>
        </p:nvPicPr>
        <p:blipFill>
          <a:blip r:embed="rId4"/>
          <a:stretch>
            <a:fillRect/>
          </a:stretch>
        </p:blipFill>
        <p:spPr>
          <a:xfrm flipH="1">
            <a:off x="8087360" y="782955"/>
            <a:ext cx="2957830" cy="295783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57200" y="1066800"/>
            <a:ext cx="7454900" cy="2673985"/>
          </a:xfrm>
          <a:prstGeom prst="rect">
            <a:avLst/>
          </a:prstGeom>
          <a:noFill/>
          <a:ln>
            <a:noFill/>
          </a:ln>
        </p:spPr>
        <p:txBody>
          <a:bodyPr spcFirstLastPara="1" wrap="square" lIns="91425" tIns="45700" rIns="91425" bIns="45700" anchor="t" anchorCtr="0">
            <a:spAutoFit/>
          </a:bodyPr>
          <a:lstStyle/>
          <a:p>
            <a:pPr marL="457200" lvl="1"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Người dùng giả (Personas): </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Thiết kế tập trung vào khách hàng hoặc người dùng của sản phẩm. </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Giúp các nhà thiết kế tạo ra mô hình khách hàng tiêu biểu và hiểu rõ khách hàng hơn.</a:t>
            </a:r>
          </a:p>
        </p:txBody>
      </p:sp>
      <p:sp>
        <p:nvSpPr>
          <p:cNvPr id="78" name="Google Shape;78;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5. </a:t>
            </a:r>
            <a:r>
              <a:rPr lang="en-US" dirty="0" err="1"/>
              <a:t>Một số phương pháp UCD</a:t>
            </a:r>
            <a:endParaRPr dirty="0"/>
          </a:p>
        </p:txBody>
      </p:sp>
      <p:pic>
        <p:nvPicPr>
          <p:cNvPr id="2" name="Picture 1" descr="7"/>
          <p:cNvPicPr>
            <a:picLocks noChangeAspect="1"/>
          </p:cNvPicPr>
          <p:nvPr/>
        </p:nvPicPr>
        <p:blipFill>
          <a:blip r:embed="rId3"/>
          <a:stretch>
            <a:fillRect/>
          </a:stretch>
        </p:blipFill>
        <p:spPr>
          <a:xfrm>
            <a:off x="6819900" y="2070735"/>
            <a:ext cx="5372100" cy="5372100"/>
          </a:xfrm>
          <a:prstGeom prst="rect">
            <a:avLst/>
          </a:prstGeom>
        </p:spPr>
      </p:pic>
      <p:pic>
        <p:nvPicPr>
          <p:cNvPr id="3" name="Picture 2" descr="2"/>
          <p:cNvPicPr>
            <a:picLocks noChangeAspect="1"/>
          </p:cNvPicPr>
          <p:nvPr/>
        </p:nvPicPr>
        <p:blipFill>
          <a:blip r:embed="rId4"/>
          <a:stretch>
            <a:fillRect/>
          </a:stretch>
        </p:blipFill>
        <p:spPr>
          <a:xfrm flipH="1">
            <a:off x="8087360" y="782955"/>
            <a:ext cx="2957830" cy="295783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57200" y="1066800"/>
            <a:ext cx="6899275" cy="3707765"/>
          </a:xfrm>
          <a:prstGeom prst="rect">
            <a:avLst/>
          </a:prstGeom>
          <a:noFill/>
          <a:ln>
            <a:noFill/>
          </a:ln>
        </p:spPr>
        <p:txBody>
          <a:bodyPr spcFirstLastPara="1" wrap="square" lIns="91425" tIns="45700" rIns="91425" bIns="45700" anchor="t" anchorCtr="0">
            <a:spAutoFit/>
          </a:bodyPr>
          <a:lstStyle/>
          <a:p>
            <a:pPr marL="457200" lvl="1"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Kiểm tra người dùng (Usability testing):</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Là một phương pháp để đánh giá và kiểm tra khả năng sử dụng của sản phẩm bởi người sử dụng thực tế. </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Giúp nhà thiết kế hiểu rõ hơn về các vấn đề liên quan đến trải nghiệm người dùng và cải thiện sản phẩm.</a:t>
            </a:r>
          </a:p>
        </p:txBody>
      </p:sp>
      <p:sp>
        <p:nvSpPr>
          <p:cNvPr id="78" name="Google Shape;78;p4"/>
          <p:cNvSpPr txBox="1">
            <a:spLocks noGrp="1"/>
          </p:cNvSpPr>
          <p:nvPr>
            <p:ph type="title"/>
          </p:nvPr>
        </p:nvSpPr>
        <p:spPr>
          <a:xfrm>
            <a:off x="457200" y="257916"/>
            <a:ext cx="11379200" cy="61383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5. </a:t>
            </a:r>
            <a:r>
              <a:rPr lang="en-US" dirty="0" err="1"/>
              <a:t>Một số phương pháp UCD</a:t>
            </a:r>
            <a:endParaRPr dirty="0"/>
          </a:p>
        </p:txBody>
      </p:sp>
      <p:pic>
        <p:nvPicPr>
          <p:cNvPr id="2" name="Picture 1" descr="7"/>
          <p:cNvPicPr>
            <a:picLocks noChangeAspect="1"/>
          </p:cNvPicPr>
          <p:nvPr/>
        </p:nvPicPr>
        <p:blipFill>
          <a:blip r:embed="rId3"/>
          <a:stretch>
            <a:fillRect/>
          </a:stretch>
        </p:blipFill>
        <p:spPr>
          <a:xfrm>
            <a:off x="6819900" y="2070735"/>
            <a:ext cx="5372100" cy="5372100"/>
          </a:xfrm>
          <a:prstGeom prst="rect">
            <a:avLst/>
          </a:prstGeom>
        </p:spPr>
      </p:pic>
      <p:pic>
        <p:nvPicPr>
          <p:cNvPr id="3" name="Picture 2" descr="2"/>
          <p:cNvPicPr>
            <a:picLocks noChangeAspect="1"/>
          </p:cNvPicPr>
          <p:nvPr/>
        </p:nvPicPr>
        <p:blipFill>
          <a:blip r:embed="rId4"/>
          <a:stretch>
            <a:fillRect/>
          </a:stretch>
        </p:blipFill>
        <p:spPr>
          <a:xfrm flipH="1">
            <a:off x="8087360" y="782955"/>
            <a:ext cx="2957830" cy="295783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57200" y="1066800"/>
            <a:ext cx="6141720" cy="4224655"/>
          </a:xfrm>
          <a:prstGeom prst="rect">
            <a:avLst/>
          </a:prstGeom>
          <a:noFill/>
          <a:ln>
            <a:noFill/>
          </a:ln>
        </p:spPr>
        <p:txBody>
          <a:bodyPr spcFirstLastPara="1" wrap="square" lIns="91425" tIns="45700" rIns="91425" bIns="45700" anchor="t" anchorCtr="0">
            <a:spAutoFit/>
          </a:bodyPr>
          <a:lstStyle/>
          <a:p>
            <a:pPr marL="457200" lvl="1"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Phản hồi người dùng (User feedback): </a:t>
            </a:r>
          </a:p>
          <a:p>
            <a:pPr marL="914400" lvl="2"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Là một phương pháp thiết kế đơn giản nhưng hiệu quả để cải thiện sản phẩm. </a:t>
            </a:r>
          </a:p>
          <a:p>
            <a:pPr marL="914400" lvl="2"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Phản hồi về tính năng và trải nghiệm của người dùng đóng vai trò quan trọng để tạo ra một sản phẩm tốt hơn.</a:t>
            </a:r>
          </a:p>
        </p:txBody>
      </p:sp>
      <p:sp>
        <p:nvSpPr>
          <p:cNvPr id="78" name="Google Shape;78;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5. </a:t>
            </a:r>
            <a:r>
              <a:rPr lang="en-US" dirty="0" err="1"/>
              <a:t>Một số phương pháp UCD</a:t>
            </a:r>
            <a:endParaRPr dirty="0"/>
          </a:p>
        </p:txBody>
      </p:sp>
      <p:pic>
        <p:nvPicPr>
          <p:cNvPr id="2" name="Picture 1" descr="7"/>
          <p:cNvPicPr>
            <a:picLocks noChangeAspect="1"/>
          </p:cNvPicPr>
          <p:nvPr/>
        </p:nvPicPr>
        <p:blipFill>
          <a:blip r:embed="rId3"/>
          <a:stretch>
            <a:fillRect/>
          </a:stretch>
        </p:blipFill>
        <p:spPr>
          <a:xfrm>
            <a:off x="6819900" y="2070735"/>
            <a:ext cx="5372100" cy="5372100"/>
          </a:xfrm>
          <a:prstGeom prst="rect">
            <a:avLst/>
          </a:prstGeom>
        </p:spPr>
      </p:pic>
      <p:pic>
        <p:nvPicPr>
          <p:cNvPr id="3" name="Picture 2" descr="2"/>
          <p:cNvPicPr>
            <a:picLocks noChangeAspect="1"/>
          </p:cNvPicPr>
          <p:nvPr/>
        </p:nvPicPr>
        <p:blipFill>
          <a:blip r:embed="rId4"/>
          <a:stretch>
            <a:fillRect/>
          </a:stretch>
        </p:blipFill>
        <p:spPr>
          <a:xfrm flipH="1">
            <a:off x="8087360" y="782955"/>
            <a:ext cx="2957830" cy="295783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57200" y="1066800"/>
            <a:ext cx="6496050" cy="4741545"/>
          </a:xfrm>
          <a:prstGeom prst="rect">
            <a:avLst/>
          </a:prstGeom>
          <a:noFill/>
          <a:ln>
            <a:noFill/>
          </a:ln>
        </p:spPr>
        <p:txBody>
          <a:bodyPr spcFirstLastPara="1" wrap="square" lIns="91425" tIns="45700" rIns="91425" bIns="45700" anchor="t" anchorCtr="0">
            <a:spAutoFit/>
          </a:bodyPr>
          <a:lstStyle/>
          <a:p>
            <a:pPr marL="457200" lvl="1"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Thiết kế thử nghiệm (Prototype design): </a:t>
            </a:r>
          </a:p>
          <a:p>
            <a:pPr marL="914400" lvl="2"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Là một phương pháp thiết kế giúp cải thiện tính khả dụng và trải nghiệm người dùng </a:t>
            </a:r>
          </a:p>
          <a:p>
            <a:pPr marL="914400" lvl="2"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Tạo ra một mô hình hoặc phần mềm có tính năng đơn giản để kiểm tra và đánh giá.</a:t>
            </a:r>
          </a:p>
          <a:p>
            <a:pPr marL="914400" lvl="2"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Tăng độ chính xác và tính khả dụng của sản phẩm.</a:t>
            </a:r>
          </a:p>
        </p:txBody>
      </p:sp>
      <p:sp>
        <p:nvSpPr>
          <p:cNvPr id="78" name="Google Shape;78;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5. </a:t>
            </a:r>
            <a:r>
              <a:rPr lang="en-US" dirty="0" err="1"/>
              <a:t>Một số phương pháp UCD</a:t>
            </a:r>
            <a:endParaRPr dirty="0"/>
          </a:p>
        </p:txBody>
      </p:sp>
      <p:pic>
        <p:nvPicPr>
          <p:cNvPr id="2" name="Picture 1" descr="7"/>
          <p:cNvPicPr>
            <a:picLocks noChangeAspect="1"/>
          </p:cNvPicPr>
          <p:nvPr/>
        </p:nvPicPr>
        <p:blipFill>
          <a:blip r:embed="rId3"/>
          <a:stretch>
            <a:fillRect/>
          </a:stretch>
        </p:blipFill>
        <p:spPr>
          <a:xfrm>
            <a:off x="6819900" y="2070735"/>
            <a:ext cx="5372100" cy="5372100"/>
          </a:xfrm>
          <a:prstGeom prst="rect">
            <a:avLst/>
          </a:prstGeom>
        </p:spPr>
      </p:pic>
      <p:pic>
        <p:nvPicPr>
          <p:cNvPr id="3" name="Picture 2" descr="2"/>
          <p:cNvPicPr>
            <a:picLocks noChangeAspect="1"/>
          </p:cNvPicPr>
          <p:nvPr/>
        </p:nvPicPr>
        <p:blipFill>
          <a:blip r:embed="rId4"/>
          <a:stretch>
            <a:fillRect/>
          </a:stretch>
        </p:blipFill>
        <p:spPr>
          <a:xfrm flipH="1">
            <a:off x="8087360" y="782955"/>
            <a:ext cx="2957830" cy="295783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57200" y="1066800"/>
            <a:ext cx="7454900" cy="5257800"/>
          </a:xfrm>
          <a:prstGeom prst="rect">
            <a:avLst/>
          </a:prstGeom>
          <a:noFill/>
          <a:ln>
            <a:noFill/>
          </a:ln>
        </p:spPr>
        <p:txBody>
          <a:bodyPr spcFirstLastPara="1" wrap="square" lIns="91425" tIns="45700" rIns="91425" bIns="45700" anchor="t" anchorCtr="0">
            <a:spAutoFit/>
          </a:bodyPr>
          <a:lstStyle/>
          <a:p>
            <a:pPr marL="457200" lvl="1"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Khả năng sử dụng sản phẩm (Usability)</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Là khả năng của một sản phẩm, dịch vụ hoặc hệ thống để được sử dụng một cách dễ dàng và hiệu quả bởi người dùng cuối. </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Các yếu tố cơ bản: sự đơn giản, tính mạch lạc, trải nghiệm người dùng và khả năng sử dụng ở mức độ đồng nhất. </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Đo lường độ dễ dàng và hiệu quả khi người dùng tương tác với sản phẩm.</a:t>
            </a:r>
          </a:p>
          <a:p>
            <a:pPr marL="457200" lvl="1" indent="-457200">
              <a:lnSpc>
                <a:spcPct val="120000"/>
              </a:lnSpc>
              <a:spcBef>
                <a:spcPts val="0"/>
              </a:spcBef>
              <a:buClr>
                <a:srgbClr val="DD7471"/>
              </a:buClr>
              <a:buFont typeface="Wingdings" panose="05000000000000000000" charset="0"/>
              <a:buChar char="§"/>
            </a:pPr>
            <a:endParaRPr lang="en-US" sz="2800">
              <a:latin typeface="Calibri" panose="020F0502020204030204" pitchFamily="34" charset="0"/>
              <a:cs typeface="Calibri" panose="020F0502020204030204" pitchFamily="34" charset="0"/>
              <a:sym typeface="+mn-ea"/>
            </a:endParaRPr>
          </a:p>
        </p:txBody>
      </p:sp>
      <p:sp>
        <p:nvSpPr>
          <p:cNvPr id="78" name="Google Shape;78;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6. </a:t>
            </a:r>
            <a:r>
              <a:rPr lang="en-US" dirty="0" err="1"/>
              <a:t>Khả năng sử dụng sản phẩm</a:t>
            </a:r>
            <a:endParaRPr dirty="0"/>
          </a:p>
        </p:txBody>
      </p:sp>
      <p:pic>
        <p:nvPicPr>
          <p:cNvPr id="2" name="Picture 1" descr="11"/>
          <p:cNvPicPr>
            <a:picLocks noChangeAspect="1"/>
          </p:cNvPicPr>
          <p:nvPr/>
        </p:nvPicPr>
        <p:blipFill>
          <a:blip r:embed="rId3"/>
          <a:stretch>
            <a:fillRect/>
          </a:stretch>
        </p:blipFill>
        <p:spPr>
          <a:xfrm>
            <a:off x="7749540" y="2640965"/>
            <a:ext cx="4442460" cy="4442460"/>
          </a:xfrm>
          <a:prstGeom prst="rect">
            <a:avLst/>
          </a:prstGeom>
        </p:spPr>
      </p:pic>
      <p:pic>
        <p:nvPicPr>
          <p:cNvPr id="4" name="Picture 3" descr="12"/>
          <p:cNvPicPr>
            <a:picLocks noChangeAspect="1"/>
          </p:cNvPicPr>
          <p:nvPr/>
        </p:nvPicPr>
        <p:blipFill>
          <a:blip r:embed="rId4"/>
          <a:stretch>
            <a:fillRect/>
          </a:stretch>
        </p:blipFill>
        <p:spPr>
          <a:xfrm>
            <a:off x="8296275" y="944880"/>
            <a:ext cx="2823210" cy="269621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06400" y="1083310"/>
            <a:ext cx="6736080" cy="5257800"/>
          </a:xfrm>
          <a:prstGeom prst="rect">
            <a:avLst/>
          </a:prstGeom>
          <a:noFill/>
          <a:ln>
            <a:noFill/>
          </a:ln>
        </p:spPr>
        <p:txBody>
          <a:bodyPr spcFirstLastPara="1" wrap="square" lIns="91425" tIns="45700" rIns="91425" bIns="45700" anchor="t" anchorCtr="0">
            <a:spAutoFit/>
          </a:bodyPr>
          <a:lstStyle/>
          <a:p>
            <a:pPr marL="457200" lvl="1" indent="-457200">
              <a:lnSpc>
                <a:spcPct val="120000"/>
              </a:lnSpc>
              <a:spcBef>
                <a:spcPts val="0"/>
              </a:spcBef>
              <a:buClr>
                <a:srgbClr val="DD7471"/>
              </a:buClr>
              <a:buFont typeface="Wingdings" panose="05000000000000000000" charset="0"/>
              <a:buChar char="§"/>
            </a:pPr>
            <a:r>
              <a:rPr lang="en-US" sz="2800" b="1">
                <a:latin typeface="Calibri" panose="020F0502020204030204" pitchFamily="34" charset="0"/>
                <a:cs typeface="Calibri" panose="020F0502020204030204" pitchFamily="34" charset="0"/>
                <a:sym typeface="+mn-ea"/>
              </a:rPr>
              <a:t>5</a:t>
            </a:r>
            <a:r>
              <a:rPr lang="en-US" sz="2800">
                <a:latin typeface="Calibri" panose="020F0502020204030204" pitchFamily="34" charset="0"/>
                <a:cs typeface="Calibri" panose="020F0502020204030204" pitchFamily="34" charset="0"/>
                <a:sym typeface="+mn-ea"/>
              </a:rPr>
              <a:t> </a:t>
            </a:r>
            <a:r>
              <a:rPr lang="en-US" sz="2800" b="1">
                <a:latin typeface="Calibri" panose="020F0502020204030204" pitchFamily="34" charset="0"/>
                <a:cs typeface="Calibri" panose="020F0502020204030204" pitchFamily="34" charset="0"/>
                <a:sym typeface="+mn-ea"/>
              </a:rPr>
              <a:t>yếu tố quan trọng</a:t>
            </a:r>
            <a:r>
              <a:rPr lang="en-US" sz="2800">
                <a:latin typeface="Calibri" panose="020F0502020204030204" pitchFamily="34" charset="0"/>
                <a:cs typeface="Calibri" panose="020F0502020204030204" pitchFamily="34" charset="0"/>
                <a:sym typeface="+mn-ea"/>
              </a:rPr>
              <a:t> cần được đánh giá:</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Độ dễ dàng trong việc điều hướng và sử dụng sản phẩm.</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Hệ thống phản hồi thích đáng, đảm bảo người dùng luôn biết mình đang làm gì.</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Thời gian phản hồi ít và đáp ứng nhanh để thông báo cho người dùng biết sản phẩm của họ có hoạt động như mong đợi hay không.</a:t>
            </a:r>
          </a:p>
        </p:txBody>
      </p:sp>
      <p:sp>
        <p:nvSpPr>
          <p:cNvPr id="78" name="Google Shape;78;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6. </a:t>
            </a:r>
            <a:r>
              <a:rPr lang="en-US" dirty="0" err="1"/>
              <a:t>Khả năng sử dụng sản phẩm</a:t>
            </a:r>
            <a:endParaRPr dirty="0"/>
          </a:p>
        </p:txBody>
      </p:sp>
      <p:pic>
        <p:nvPicPr>
          <p:cNvPr id="2" name="Picture 1" descr="5"/>
          <p:cNvPicPr>
            <a:picLocks noChangeAspect="1"/>
          </p:cNvPicPr>
          <p:nvPr/>
        </p:nvPicPr>
        <p:blipFill>
          <a:blip r:embed="rId3"/>
          <a:stretch>
            <a:fillRect/>
          </a:stretch>
        </p:blipFill>
        <p:spPr>
          <a:xfrm>
            <a:off x="7066915" y="1322705"/>
            <a:ext cx="4911725" cy="491172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57200" y="1066800"/>
            <a:ext cx="5614670" cy="5257800"/>
          </a:xfrm>
          <a:prstGeom prst="rect">
            <a:avLst/>
          </a:prstGeom>
          <a:noFill/>
          <a:ln>
            <a:noFill/>
          </a:ln>
        </p:spPr>
        <p:txBody>
          <a:bodyPr spcFirstLastPara="1" wrap="square" lIns="91425" tIns="45700" rIns="91425" bIns="45700" anchor="t" anchorCtr="0">
            <a:spAutoFit/>
          </a:bodyPr>
          <a:lstStyle/>
          <a:p>
            <a:pPr marL="457200" lvl="1" indent="-457200">
              <a:lnSpc>
                <a:spcPct val="120000"/>
              </a:lnSpc>
              <a:spcBef>
                <a:spcPts val="0"/>
              </a:spcBef>
              <a:buClr>
                <a:srgbClr val="DD7471"/>
              </a:buClr>
              <a:buFont typeface="Wingdings" panose="05000000000000000000" charset="0"/>
              <a:buChar char="§"/>
            </a:pPr>
            <a:r>
              <a:rPr lang="en-US" sz="2800" b="1">
                <a:latin typeface="Calibri" panose="020F0502020204030204" pitchFamily="34" charset="0"/>
                <a:cs typeface="Calibri" panose="020F0502020204030204" pitchFamily="34" charset="0"/>
                <a:sym typeface="+mn-ea"/>
              </a:rPr>
              <a:t>5</a:t>
            </a:r>
            <a:r>
              <a:rPr lang="en-US" sz="2800">
                <a:latin typeface="Calibri" panose="020F0502020204030204" pitchFamily="34" charset="0"/>
                <a:cs typeface="Calibri" panose="020F0502020204030204" pitchFamily="34" charset="0"/>
                <a:sym typeface="+mn-ea"/>
              </a:rPr>
              <a:t> </a:t>
            </a:r>
            <a:r>
              <a:rPr lang="en-US" sz="2800" b="1">
                <a:latin typeface="Calibri" panose="020F0502020204030204" pitchFamily="34" charset="0"/>
                <a:cs typeface="Calibri" panose="020F0502020204030204" pitchFamily="34" charset="0"/>
                <a:sym typeface="+mn-ea"/>
              </a:rPr>
              <a:t>yếu tố quan trọng</a:t>
            </a:r>
            <a:r>
              <a:rPr lang="en-US" sz="2800">
                <a:latin typeface="Calibri" panose="020F0502020204030204" pitchFamily="34" charset="0"/>
                <a:cs typeface="Calibri" panose="020F0502020204030204" pitchFamily="34" charset="0"/>
                <a:sym typeface="+mn-ea"/>
              </a:rPr>
              <a:t> cần được đánh giá:</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Sự nhất quán trong giao diện và kết cấu sản phẩm, làm cho việc sử dụng sản phẩm trở nên dễ dàng và không gây bất kỳ bối rối nào cho người dùng.</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Khả năng đáp ứng các nhu cầu và mục đích sử dụng đối với sản phẩm.</a:t>
            </a:r>
          </a:p>
        </p:txBody>
      </p:sp>
      <p:sp>
        <p:nvSpPr>
          <p:cNvPr id="78" name="Google Shape;78;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6. </a:t>
            </a:r>
            <a:r>
              <a:rPr lang="en-US" dirty="0" err="1"/>
              <a:t>Khả năng sử dụng sản phẩm</a:t>
            </a:r>
            <a:endParaRPr dirty="0"/>
          </a:p>
        </p:txBody>
      </p:sp>
      <p:pic>
        <p:nvPicPr>
          <p:cNvPr id="2" name="Picture 1" descr="5"/>
          <p:cNvPicPr>
            <a:picLocks noChangeAspect="1"/>
          </p:cNvPicPr>
          <p:nvPr/>
        </p:nvPicPr>
        <p:blipFill>
          <a:blip r:embed="rId3"/>
          <a:stretch>
            <a:fillRect/>
          </a:stretch>
        </p:blipFill>
        <p:spPr>
          <a:xfrm>
            <a:off x="7066915" y="1322705"/>
            <a:ext cx="4911725" cy="491172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3"/>
          <p:cNvSpPr/>
          <p:nvPr/>
        </p:nvSpPr>
        <p:spPr>
          <a:xfrm>
            <a:off x="893038" y="4013149"/>
            <a:ext cx="10456487" cy="2251464"/>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66" name="Google Shape;66;p3"/>
          <p:cNvSpPr/>
          <p:nvPr/>
        </p:nvSpPr>
        <p:spPr>
          <a:xfrm>
            <a:off x="893038" y="3665169"/>
            <a:ext cx="3276600" cy="695960"/>
          </a:xfrm>
          <a:prstGeom prst="rightArrow">
            <a:avLst>
              <a:gd name="adj1" fmla="val 100000"/>
              <a:gd name="adj2" fmla="val 50000"/>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67" name="Google Shape;67;p3"/>
          <p:cNvSpPr txBox="1">
            <a:spLocks noGrp="1"/>
          </p:cNvSpPr>
          <p:nvPr>
            <p:ph type="body" idx="1"/>
          </p:nvPr>
        </p:nvSpPr>
        <p:spPr>
          <a:xfrm>
            <a:off x="1314909" y="4589827"/>
            <a:ext cx="7162165" cy="866140"/>
          </a:xfrm>
          <a:prstGeom prst="rect">
            <a:avLst/>
          </a:prstGeom>
          <a:noFill/>
          <a:ln>
            <a:noFill/>
          </a:ln>
        </p:spPr>
        <p:txBody>
          <a:bodyPr spcFirstLastPara="1" wrap="square" lIns="91425" tIns="45700" rIns="91425" bIns="45700" anchor="t" anchorCtr="0">
            <a:noAutofit/>
          </a:bodyPr>
          <a:lstStyle/>
          <a:p>
            <a:pPr lvl="0" indent="-457200">
              <a:lnSpc>
                <a:spcPct val="120000"/>
              </a:lnSpc>
              <a:spcBef>
                <a:spcPts val="0"/>
              </a:spcBef>
              <a:buClr>
                <a:srgbClr val="DD7471"/>
              </a:buClr>
              <a:buFont typeface="Noto Sans Symbols"/>
              <a:buChar char="✔"/>
            </a:pPr>
            <a:r>
              <a:rPr lang="vi-VN" sz="2800" b="0" dirty="0">
                <a:solidFill>
                  <a:srgbClr val="262626"/>
                </a:solidFill>
              </a:rPr>
              <a:t>Trải nghiệm khách hàng</a:t>
            </a:r>
          </a:p>
          <a:p>
            <a:pPr marL="0" lvl="0" indent="0">
              <a:lnSpc>
                <a:spcPct val="120000"/>
              </a:lnSpc>
              <a:spcBef>
                <a:spcPts val="0"/>
              </a:spcBef>
              <a:buClr>
                <a:srgbClr val="DD7471"/>
              </a:buClr>
            </a:pPr>
            <a:r>
              <a:rPr lang="vi-VN" sz="2800" b="0" dirty="0">
                <a:solidFill>
                  <a:srgbClr val="262626"/>
                </a:solidFill>
              </a:rPr>
              <a:t>Hành vi người dùng</a:t>
            </a:r>
          </a:p>
        </p:txBody>
      </p:sp>
      <p:sp>
        <p:nvSpPr>
          <p:cNvPr id="68" name="Google Shape;68;p3"/>
          <p:cNvSpPr txBox="1">
            <a:spLocks noGrp="1"/>
          </p:cNvSpPr>
          <p:nvPr>
            <p:ph type="sldNum" idx="12"/>
          </p:nvPr>
        </p:nvSpPr>
        <p:spPr>
          <a:xfrm>
            <a:off x="76200" y="6172201"/>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2000">
                <a:solidFill>
                  <a:schemeClr val="lt1"/>
                </a:solidFill>
              </a:rPr>
              <a:t>22</a:t>
            </a:fld>
            <a:endParaRPr sz="2000">
              <a:solidFill>
                <a:schemeClr val="lt1"/>
              </a:solidFill>
            </a:endParaRPr>
          </a:p>
        </p:txBody>
      </p:sp>
      <p:sp>
        <p:nvSpPr>
          <p:cNvPr id="69" name="Google Shape;69;p3"/>
          <p:cNvSpPr txBox="1"/>
          <p:nvPr/>
        </p:nvSpPr>
        <p:spPr>
          <a:xfrm>
            <a:off x="1207998" y="3784549"/>
            <a:ext cx="2809240" cy="457200"/>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None/>
            </a:pPr>
            <a:r>
              <a:rPr lang="en-US" sz="2400" b="1" dirty="0" err="1">
                <a:solidFill>
                  <a:schemeClr val="lt1"/>
                </a:solidFill>
                <a:latin typeface="Quattrocento Sans" panose="020B0502050000020003"/>
                <a:ea typeface="Quattrocento Sans" panose="020B0502050000020003"/>
                <a:cs typeface="Quattrocento Sans" panose="020B0502050000020003"/>
                <a:sym typeface="Quattrocento Sans" panose="020B0502050000020003"/>
              </a:rPr>
              <a:t>Phần</a:t>
            </a:r>
            <a:r>
              <a:rPr lang="en-US" sz="2400" b="1" dirty="0">
                <a:solidFill>
                  <a:schemeClr val="lt1"/>
                </a:solidFill>
                <a:latin typeface="Quattrocento Sans" panose="020B0502050000020003"/>
                <a:ea typeface="Quattrocento Sans" panose="020B0502050000020003"/>
                <a:cs typeface="Quattrocento Sans" panose="020B0502050000020003"/>
                <a:sym typeface="Quattrocento Sans" panose="020B0502050000020003"/>
              </a:rPr>
              <a:t> 2</a:t>
            </a:r>
            <a:endParaRPr sz="2400" b="1" dirty="0">
              <a:solidFill>
                <a:schemeClr val="lt1"/>
              </a:solidFill>
              <a:latin typeface="Quattrocento Sans" panose="020B0502050000020003"/>
              <a:ea typeface="Quattrocento Sans" panose="020B0502050000020003"/>
              <a:cs typeface="Quattrocento Sans" panose="020B0502050000020003"/>
              <a:sym typeface="Quattrocento Sans" panose="020B0502050000020003"/>
            </a:endParaRPr>
          </a:p>
        </p:txBody>
      </p:sp>
      <p:pic>
        <p:nvPicPr>
          <p:cNvPr id="70" name="Google Shape;70;p3"/>
          <p:cNvPicPr preferRelativeResize="0"/>
          <p:nvPr/>
        </p:nvPicPr>
        <p:blipFill rotWithShape="1">
          <a:blip r:embed="rId3"/>
          <a:srcRect/>
          <a:stretch>
            <a:fillRect/>
          </a:stretch>
        </p:blipFill>
        <p:spPr>
          <a:xfrm>
            <a:off x="5068798" y="457200"/>
            <a:ext cx="7220811" cy="3625320"/>
          </a:xfrm>
          <a:prstGeom prst="rect">
            <a:avLst/>
          </a:prstGeom>
          <a:noFill/>
          <a:ln>
            <a:noFill/>
          </a:ln>
        </p:spPr>
      </p:pic>
    </p:spTree>
    <p:extLst>
      <p:ext uri="{BB962C8B-B14F-4D97-AF65-F5344CB8AC3E}">
        <p14:creationId xmlns:p14="http://schemas.microsoft.com/office/powerpoint/2010/main" val="2845132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66725" y="1057275"/>
            <a:ext cx="7031355" cy="5257800"/>
          </a:xfrm>
          <a:prstGeom prst="rect">
            <a:avLst/>
          </a:prstGeom>
          <a:noFill/>
          <a:ln>
            <a:noFill/>
          </a:ln>
        </p:spPr>
        <p:txBody>
          <a:bodyPr spcFirstLastPara="1" wrap="square" lIns="91425" tIns="45700" rIns="91425" bIns="45700" anchor="t" anchorCtr="0">
            <a:spAutoFit/>
          </a:bodyPr>
          <a:lstStyle/>
          <a:p>
            <a:pPr marL="457200" lvl="1"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Hành vi người dùng là sự tương tác giữa người dùng và sản phẩm, dịch vụ, hệ thống hoặc ứng dụng đang được sử dụng. </a:t>
            </a:r>
          </a:p>
          <a:p>
            <a:pPr marL="457200" lvl="1"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Hành vi người dùng bao gồm mọi hoạt động, thao tác và cách thức mà người dùng tương tác với sản phẩm hay ứng dụng đó. </a:t>
            </a:r>
          </a:p>
          <a:p>
            <a:pPr marL="457200" lvl="1"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Hành vi người dùng có mối quan hệ mật thiết với trải nghiệm người dùng, và nó được coi là nhân tố chính quyết định đến sự thành công của một sản phẩm.</a:t>
            </a:r>
          </a:p>
        </p:txBody>
      </p:sp>
      <p:sp>
        <p:nvSpPr>
          <p:cNvPr id="78" name="Google Shape;78;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7. </a:t>
            </a:r>
            <a:r>
              <a:rPr lang="en-US" dirty="0" err="1"/>
              <a:t>Hành vi người dùng</a:t>
            </a:r>
            <a:endParaRPr dirty="0"/>
          </a:p>
        </p:txBody>
      </p:sp>
      <p:pic>
        <p:nvPicPr>
          <p:cNvPr id="2" name="Picture 1" descr="8"/>
          <p:cNvPicPr>
            <a:picLocks noChangeAspect="1"/>
          </p:cNvPicPr>
          <p:nvPr/>
        </p:nvPicPr>
        <p:blipFill>
          <a:blip r:embed="rId3"/>
          <a:stretch>
            <a:fillRect/>
          </a:stretch>
        </p:blipFill>
        <p:spPr>
          <a:xfrm>
            <a:off x="7028815" y="1917700"/>
            <a:ext cx="5592445" cy="5592445"/>
          </a:xfrm>
          <a:prstGeom prst="rect">
            <a:avLst/>
          </a:prstGeom>
        </p:spPr>
      </p:pic>
      <p:pic>
        <p:nvPicPr>
          <p:cNvPr id="4" name="Picture 3" descr="12"/>
          <p:cNvPicPr>
            <a:picLocks noChangeAspect="1"/>
          </p:cNvPicPr>
          <p:nvPr/>
        </p:nvPicPr>
        <p:blipFill>
          <a:blip r:embed="rId4"/>
          <a:stretch>
            <a:fillRect/>
          </a:stretch>
        </p:blipFill>
        <p:spPr>
          <a:xfrm>
            <a:off x="8296275" y="944880"/>
            <a:ext cx="2823210" cy="269621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66725" y="1058545"/>
            <a:ext cx="6122035" cy="4741545"/>
          </a:xfrm>
          <a:prstGeom prst="rect">
            <a:avLst/>
          </a:prstGeom>
          <a:noFill/>
          <a:ln>
            <a:noFill/>
          </a:ln>
        </p:spPr>
        <p:txBody>
          <a:bodyPr spcFirstLastPara="1" wrap="square" lIns="91425" tIns="45700" rIns="91425" bIns="45700" anchor="t" anchorCtr="0">
            <a:spAutoFit/>
          </a:bodyPr>
          <a:lstStyle/>
          <a:p>
            <a:pPr marL="457200" lvl="1" indent="-457200">
              <a:lnSpc>
                <a:spcPct val="120000"/>
              </a:lnSpc>
              <a:spcBef>
                <a:spcPts val="0"/>
              </a:spcBef>
              <a:buClr>
                <a:srgbClr val="DD7471"/>
              </a:buClr>
              <a:buFont typeface="Wingdings" panose="05000000000000000000" charset="0"/>
              <a:buChar char="§"/>
            </a:pPr>
            <a:r>
              <a:rPr lang="en-US" sz="2800" b="1">
                <a:latin typeface="Calibri" panose="020F0502020204030204" pitchFamily="34" charset="0"/>
                <a:cs typeface="Calibri" panose="020F0502020204030204" pitchFamily="34" charset="0"/>
                <a:sym typeface="+mn-ea"/>
              </a:rPr>
              <a:t>6</a:t>
            </a:r>
            <a:r>
              <a:rPr lang="en-US" sz="2800">
                <a:latin typeface="Calibri" panose="020F0502020204030204" pitchFamily="34" charset="0"/>
                <a:cs typeface="Calibri" panose="020F0502020204030204" pitchFamily="34" charset="0"/>
                <a:sym typeface="+mn-ea"/>
              </a:rPr>
              <a:t> </a:t>
            </a:r>
            <a:r>
              <a:rPr lang="en-US" sz="2800" b="1">
                <a:latin typeface="Calibri" panose="020F0502020204030204" pitchFamily="34" charset="0"/>
                <a:cs typeface="Calibri" panose="020F0502020204030204" pitchFamily="34" charset="0"/>
                <a:sym typeface="+mn-ea"/>
              </a:rPr>
              <a:t>trường hợp</a:t>
            </a:r>
            <a:r>
              <a:rPr lang="en-US" sz="2800">
                <a:latin typeface="Calibri" panose="020F0502020204030204" pitchFamily="34" charset="0"/>
                <a:cs typeface="Calibri" panose="020F0502020204030204" pitchFamily="34" charset="0"/>
                <a:sym typeface="+mn-ea"/>
              </a:rPr>
              <a:t> của hành vi người dùng bao gồm:</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Tìm kiếm thông tin trên trang web hoặc ứng dụng.</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Click vào các liên kết và nút để chuyển đến các trang khác nhau hoặc thực hiện các thao tác khác.</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Điền thông tin đăng nhập hoặc đăng ký.</a:t>
            </a:r>
          </a:p>
        </p:txBody>
      </p:sp>
      <p:sp>
        <p:nvSpPr>
          <p:cNvPr id="78" name="Google Shape;78;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7. </a:t>
            </a:r>
            <a:r>
              <a:rPr lang="en-US" dirty="0" err="1"/>
              <a:t>Hành vi người dùng</a:t>
            </a:r>
            <a:endParaRPr dirty="0"/>
          </a:p>
        </p:txBody>
      </p:sp>
      <p:pic>
        <p:nvPicPr>
          <p:cNvPr id="2" name="Picture 1" descr="4"/>
          <p:cNvPicPr>
            <a:picLocks noChangeAspect="1"/>
          </p:cNvPicPr>
          <p:nvPr/>
        </p:nvPicPr>
        <p:blipFill>
          <a:blip r:embed="rId3"/>
          <a:stretch>
            <a:fillRect/>
          </a:stretch>
        </p:blipFill>
        <p:spPr>
          <a:xfrm>
            <a:off x="6483985" y="494030"/>
            <a:ext cx="5708015" cy="570801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57200" y="1066800"/>
            <a:ext cx="6303645" cy="5257800"/>
          </a:xfrm>
          <a:prstGeom prst="rect">
            <a:avLst/>
          </a:prstGeom>
          <a:noFill/>
          <a:ln>
            <a:noFill/>
          </a:ln>
        </p:spPr>
        <p:txBody>
          <a:bodyPr spcFirstLastPara="1" wrap="square" lIns="91425" tIns="45700" rIns="91425" bIns="45700" anchor="t" anchorCtr="0">
            <a:spAutoFit/>
          </a:bodyPr>
          <a:lstStyle/>
          <a:p>
            <a:pPr marL="457200" lvl="1" indent="-457200">
              <a:lnSpc>
                <a:spcPct val="120000"/>
              </a:lnSpc>
              <a:spcBef>
                <a:spcPts val="0"/>
              </a:spcBef>
              <a:buClr>
                <a:srgbClr val="DD7471"/>
              </a:buClr>
              <a:buFont typeface="Wingdings" panose="05000000000000000000" charset="0"/>
              <a:buChar char="§"/>
            </a:pPr>
            <a:r>
              <a:rPr lang="en-US" sz="2800" b="1">
                <a:latin typeface="Calibri" panose="020F0502020204030204" pitchFamily="34" charset="0"/>
                <a:cs typeface="Calibri" panose="020F0502020204030204" pitchFamily="34" charset="0"/>
                <a:sym typeface="+mn-ea"/>
              </a:rPr>
              <a:t>6 trường hợp</a:t>
            </a:r>
            <a:r>
              <a:rPr lang="en-US" sz="2800">
                <a:latin typeface="Calibri" panose="020F0502020204030204" pitchFamily="34" charset="0"/>
                <a:cs typeface="Calibri" panose="020F0502020204030204" pitchFamily="34" charset="0"/>
                <a:sym typeface="+mn-ea"/>
              </a:rPr>
              <a:t> của hành vi người dùng bao gồm:</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Thực hiện các thao tác để sử dụng các tính năng, sách lược hoặc chức năng khác nhau của sản phẩm.</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Bình luận hoặc đánh giá sản phẩm.</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Chia sẻ sản phẩm hay thông tin có liên quan đến sản phẩm đến với người khác.</a:t>
            </a:r>
          </a:p>
          <a:p>
            <a:pPr marL="457200" lvl="1" indent="-457200">
              <a:lnSpc>
                <a:spcPct val="120000"/>
              </a:lnSpc>
              <a:spcBef>
                <a:spcPts val="0"/>
              </a:spcBef>
              <a:buClr>
                <a:srgbClr val="DD7471"/>
              </a:buClr>
              <a:buFont typeface="Wingdings" panose="05000000000000000000" charset="0"/>
              <a:buChar char="§"/>
            </a:pPr>
            <a:endParaRPr lang="en-US" sz="2800">
              <a:latin typeface="Calibri" panose="020F0502020204030204" pitchFamily="34" charset="0"/>
              <a:cs typeface="Calibri" panose="020F0502020204030204" pitchFamily="34" charset="0"/>
              <a:sym typeface="+mn-ea"/>
            </a:endParaRPr>
          </a:p>
        </p:txBody>
      </p:sp>
      <p:sp>
        <p:nvSpPr>
          <p:cNvPr id="78" name="Google Shape;78;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7. </a:t>
            </a:r>
            <a:r>
              <a:rPr lang="en-US" dirty="0" err="1"/>
              <a:t>Hành vi người dùng</a:t>
            </a:r>
            <a:endParaRPr dirty="0"/>
          </a:p>
        </p:txBody>
      </p:sp>
      <p:pic>
        <p:nvPicPr>
          <p:cNvPr id="2" name="Picture 1" descr="4"/>
          <p:cNvPicPr>
            <a:picLocks noChangeAspect="1"/>
          </p:cNvPicPr>
          <p:nvPr/>
        </p:nvPicPr>
        <p:blipFill>
          <a:blip r:embed="rId3"/>
          <a:stretch>
            <a:fillRect/>
          </a:stretch>
        </p:blipFill>
        <p:spPr>
          <a:xfrm>
            <a:off x="6483985" y="616585"/>
            <a:ext cx="5708015" cy="570801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7" name="Google Shape;77;p4"/>
          <p:cNvSpPr txBox="1"/>
          <p:nvPr/>
        </p:nvSpPr>
        <p:spPr>
          <a:xfrm>
            <a:off x="457200" y="1066800"/>
            <a:ext cx="6801485" cy="5257800"/>
          </a:xfrm>
          <a:prstGeom prst="rect">
            <a:avLst/>
          </a:prstGeom>
          <a:noFill/>
          <a:ln>
            <a:noFill/>
          </a:ln>
        </p:spPr>
        <p:txBody>
          <a:bodyPr spcFirstLastPara="1" wrap="square" lIns="91425" tIns="45700" rIns="91425" bIns="45700" anchor="t" anchorCtr="0">
            <a:spAutoFit/>
          </a:bodyPr>
          <a:lstStyle/>
          <a:p>
            <a:pPr marL="457200" lvl="1"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Việc hiểu và thu thập thông tin về hành vi người dùng sẽ giúp các nhà thiết kế nâng cao trải nghiệm người dùng và đảm bảo sản phẩm phù hợp với mong muốn của người dùng. </a:t>
            </a:r>
          </a:p>
          <a:p>
            <a:pPr marL="457200" lvl="1"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Để thu thập thông tin về hành vi người dùng, có thể sử dụng các công cụ như Google Analytics, các cuộc khảo sát hoặc phỏng vấn trực tiếp người dùng để thu thập thông tin chi tiết.</a:t>
            </a:r>
          </a:p>
        </p:txBody>
      </p:sp>
      <p:sp>
        <p:nvSpPr>
          <p:cNvPr id="78" name="Google Shape;78;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7. </a:t>
            </a:r>
            <a:r>
              <a:rPr lang="en-US" dirty="0" err="1"/>
              <a:t>Hành vi người dùng</a:t>
            </a:r>
            <a:endParaRPr dirty="0"/>
          </a:p>
        </p:txBody>
      </p:sp>
      <p:pic>
        <p:nvPicPr>
          <p:cNvPr id="2" name="Picture 1"/>
          <p:cNvPicPr>
            <a:picLocks noChangeAspect="1"/>
          </p:cNvPicPr>
          <p:nvPr/>
        </p:nvPicPr>
        <p:blipFill>
          <a:blip r:embed="rId3"/>
          <a:stretch>
            <a:fillRect/>
          </a:stretch>
        </p:blipFill>
        <p:spPr>
          <a:xfrm>
            <a:off x="8018780" y="1427480"/>
            <a:ext cx="3554095" cy="1510665"/>
          </a:xfrm>
          <a:prstGeom prst="rect">
            <a:avLst/>
          </a:prstGeom>
        </p:spPr>
      </p:pic>
      <p:pic>
        <p:nvPicPr>
          <p:cNvPr id="3" name="Picture 2"/>
          <p:cNvPicPr>
            <a:picLocks noChangeAspect="1"/>
          </p:cNvPicPr>
          <p:nvPr/>
        </p:nvPicPr>
        <p:blipFill>
          <a:blip r:embed="rId4"/>
          <a:stretch>
            <a:fillRect/>
          </a:stretch>
        </p:blipFill>
        <p:spPr>
          <a:xfrm>
            <a:off x="7406640" y="3421380"/>
            <a:ext cx="4079240" cy="265684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Shape 347"/>
        <p:cNvGrpSpPr/>
        <p:nvPr/>
      </p:nvGrpSpPr>
      <p:grpSpPr>
        <a:xfrm>
          <a:off x="0" y="0"/>
          <a:ext cx="0" cy="0"/>
          <a:chOff x="0" y="0"/>
          <a:chExt cx="0" cy="0"/>
        </a:xfrm>
      </p:grpSpPr>
      <p:sp>
        <p:nvSpPr>
          <p:cNvPr id="348" name="Google Shape;348;p3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buSzPts val="2800"/>
            </a:pPr>
            <a:r>
              <a:rPr lang="en-US" dirty="0"/>
              <a:t>7. </a:t>
            </a:r>
            <a:r>
              <a:rPr lang="en-US" dirty="0" err="1"/>
              <a:t>Hành</a:t>
            </a:r>
            <a:r>
              <a:rPr lang="en-US" dirty="0"/>
              <a:t> vi </a:t>
            </a:r>
            <a:r>
              <a:rPr lang="en-US" dirty="0" err="1"/>
              <a:t>người</a:t>
            </a:r>
            <a:r>
              <a:rPr lang="en-US" dirty="0"/>
              <a:t> </a:t>
            </a:r>
            <a:r>
              <a:rPr lang="en-US" dirty="0" err="1"/>
              <a:t>dùng</a:t>
            </a:r>
            <a:endParaRPr dirty="0"/>
          </a:p>
        </p:txBody>
      </p:sp>
      <p:sp>
        <p:nvSpPr>
          <p:cNvPr id="77" name="Google Shape;77;p4"/>
          <p:cNvSpPr txBox="1"/>
          <p:nvPr/>
        </p:nvSpPr>
        <p:spPr>
          <a:xfrm>
            <a:off x="252730" y="1057275"/>
            <a:ext cx="5680710" cy="1643486"/>
          </a:xfrm>
          <a:prstGeom prst="rect">
            <a:avLst/>
          </a:prstGeom>
          <a:noFill/>
          <a:ln>
            <a:noFill/>
          </a:ln>
        </p:spPr>
        <p:txBody>
          <a:bodyPr spcFirstLastPara="1" wrap="square" lIns="91425" tIns="45700" rIns="91425" bIns="45700" anchor="t" anchorCtr="0">
            <a:spAutoFit/>
          </a:bodyPr>
          <a:lstStyle/>
          <a:p>
            <a:pPr marL="457200" lvl="2" indent="0">
              <a:lnSpc>
                <a:spcPct val="120000"/>
              </a:lnSpc>
              <a:spcBef>
                <a:spcPts val="0"/>
              </a:spcBef>
              <a:buClr>
                <a:srgbClr val="DD7471"/>
              </a:buClr>
              <a:buFont typeface="Wingdings" panose="05000000000000000000" charset="0"/>
              <a:buNone/>
            </a:pPr>
            <a:r>
              <a:rPr lang="en-US" sz="2800" dirty="0">
                <a:latin typeface="Calibri" panose="020F0502020204030204" pitchFamily="34" charset="0"/>
                <a:cs typeface="Calibri" panose="020F0502020204030204" pitchFamily="34" charset="0"/>
                <a:sym typeface="+mn-ea"/>
              </a:rPr>
              <a:t>Demo </a:t>
            </a:r>
            <a:r>
              <a:rPr lang="en-US" sz="2800" dirty="0" err="1">
                <a:latin typeface="Calibri" panose="020F0502020204030204" pitchFamily="34" charset="0"/>
                <a:cs typeface="Calibri" panose="020F0502020204030204" pitchFamily="34" charset="0"/>
                <a:sym typeface="+mn-ea"/>
              </a:rPr>
              <a:t>một</a:t>
            </a:r>
            <a:r>
              <a:rPr lang="en-US" sz="2800" dirty="0">
                <a:latin typeface="Calibri" panose="020F0502020204030204" pitchFamily="34" charset="0"/>
                <a:cs typeface="Calibri" panose="020F0502020204030204" pitchFamily="34" charset="0"/>
                <a:sym typeface="+mn-ea"/>
              </a:rPr>
              <a:t> </a:t>
            </a:r>
            <a:r>
              <a:rPr lang="en-US" sz="2800" dirty="0" err="1">
                <a:latin typeface="Calibri" panose="020F0502020204030204" pitchFamily="34" charset="0"/>
                <a:cs typeface="Calibri" panose="020F0502020204030204" pitchFamily="34" charset="0"/>
                <a:sym typeface="+mn-ea"/>
              </a:rPr>
              <a:t>số</a:t>
            </a:r>
            <a:r>
              <a:rPr lang="en-US" sz="2800" dirty="0">
                <a:latin typeface="Calibri" panose="020F0502020204030204" pitchFamily="34" charset="0"/>
                <a:cs typeface="Calibri" panose="020F0502020204030204" pitchFamily="34" charset="0"/>
                <a:sym typeface="+mn-ea"/>
              </a:rPr>
              <a:t> </a:t>
            </a:r>
            <a:r>
              <a:rPr lang="en-US" sz="2800" dirty="0" err="1">
                <a:latin typeface="Calibri" panose="020F0502020204030204" pitchFamily="34" charset="0"/>
                <a:cs typeface="Calibri" panose="020F0502020204030204" pitchFamily="34" charset="0"/>
                <a:sym typeface="+mn-ea"/>
              </a:rPr>
              <a:t>hành</a:t>
            </a:r>
            <a:r>
              <a:rPr lang="en-US" sz="2800" dirty="0">
                <a:latin typeface="Calibri" panose="020F0502020204030204" pitchFamily="34" charset="0"/>
                <a:cs typeface="Calibri" panose="020F0502020204030204" pitchFamily="34" charset="0"/>
                <a:sym typeface="+mn-ea"/>
              </a:rPr>
              <a:t> vi </a:t>
            </a:r>
            <a:r>
              <a:rPr lang="en-US" sz="2800" dirty="0" err="1">
                <a:latin typeface="Calibri" panose="020F0502020204030204" pitchFamily="34" charset="0"/>
                <a:cs typeface="Calibri" panose="020F0502020204030204" pitchFamily="34" charset="0"/>
                <a:sym typeface="+mn-ea"/>
              </a:rPr>
              <a:t>người</a:t>
            </a:r>
            <a:r>
              <a:rPr lang="en-US" sz="2800" dirty="0">
                <a:latin typeface="Calibri" panose="020F0502020204030204" pitchFamily="34" charset="0"/>
                <a:cs typeface="Calibri" panose="020F0502020204030204" pitchFamily="34" charset="0"/>
                <a:sym typeface="+mn-ea"/>
              </a:rPr>
              <a:t> dung: </a:t>
            </a:r>
            <a:r>
              <a:rPr lang="en-US" sz="2800" dirty="0" err="1">
                <a:latin typeface="Calibri" panose="020F0502020204030204" pitchFamily="34" charset="0"/>
                <a:cs typeface="Calibri" panose="020F0502020204030204" pitchFamily="34" charset="0"/>
                <a:sym typeface="+mn-ea"/>
              </a:rPr>
              <a:t>mua</a:t>
            </a:r>
            <a:r>
              <a:rPr lang="en-US" sz="2800" dirty="0">
                <a:latin typeface="Calibri" panose="020F0502020204030204" pitchFamily="34" charset="0"/>
                <a:cs typeface="Calibri" panose="020F0502020204030204" pitchFamily="34" charset="0"/>
                <a:sym typeface="+mn-ea"/>
              </a:rPr>
              <a:t> </a:t>
            </a:r>
            <a:r>
              <a:rPr lang="en-US" sz="2800" dirty="0" err="1">
                <a:latin typeface="Calibri" panose="020F0502020204030204" pitchFamily="34" charset="0"/>
                <a:cs typeface="Calibri" panose="020F0502020204030204" pitchFamily="34" charset="0"/>
                <a:sym typeface="+mn-ea"/>
              </a:rPr>
              <a:t>hàng</a:t>
            </a:r>
            <a:r>
              <a:rPr lang="en-US" sz="2800" dirty="0">
                <a:latin typeface="Calibri" panose="020F0502020204030204" pitchFamily="34" charset="0"/>
                <a:cs typeface="Calibri" panose="020F0502020204030204" pitchFamily="34" charset="0"/>
                <a:sym typeface="+mn-ea"/>
              </a:rPr>
              <a:t> – comment – chia </a:t>
            </a:r>
            <a:r>
              <a:rPr lang="en-US" sz="2800" dirty="0" err="1">
                <a:latin typeface="Calibri" panose="020F0502020204030204" pitchFamily="34" charset="0"/>
                <a:cs typeface="Calibri" panose="020F0502020204030204" pitchFamily="34" charset="0"/>
                <a:sym typeface="+mn-ea"/>
              </a:rPr>
              <a:t>sẻ</a:t>
            </a:r>
            <a:endParaRPr lang="en-US" sz="2800" dirty="0">
              <a:latin typeface="Calibri" panose="020F0502020204030204" pitchFamily="34" charset="0"/>
              <a:cs typeface="Calibri" panose="020F0502020204030204" pitchFamily="34" charset="0"/>
              <a:sym typeface="+mn-ea"/>
            </a:endParaRPr>
          </a:p>
          <a:p>
            <a:pPr marL="914400" lvl="2" indent="-457200">
              <a:lnSpc>
                <a:spcPct val="120000"/>
              </a:lnSpc>
              <a:spcBef>
                <a:spcPts val="0"/>
              </a:spcBef>
              <a:buClr>
                <a:srgbClr val="DD7471"/>
              </a:buClr>
              <a:buFont typeface="Arial" panose="020B0604020202020204" pitchFamily="34" charset="0"/>
              <a:buChar char="•"/>
            </a:pPr>
            <a:endParaRPr lang="en-US" sz="2800" dirty="0">
              <a:latin typeface="Calibri" panose="020F0502020204030204" pitchFamily="34" charset="0"/>
              <a:cs typeface="Calibri" panose="020F0502020204030204" pitchFamily="34" charset="0"/>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8. Thiết kế wireframe</a:t>
            </a:r>
            <a:endParaRPr dirty="0"/>
          </a:p>
        </p:txBody>
      </p:sp>
      <p:sp>
        <p:nvSpPr>
          <p:cNvPr id="77" name="Google Shape;77;p4"/>
          <p:cNvSpPr txBox="1"/>
          <p:nvPr/>
        </p:nvSpPr>
        <p:spPr>
          <a:xfrm>
            <a:off x="466725" y="1057275"/>
            <a:ext cx="5624195" cy="3707765"/>
          </a:xfrm>
          <a:prstGeom prst="rect">
            <a:avLst/>
          </a:prstGeom>
          <a:noFill/>
          <a:ln>
            <a:noFill/>
          </a:ln>
        </p:spPr>
        <p:txBody>
          <a:bodyPr spcFirstLastPara="1" wrap="square" lIns="91425" tIns="45700" rIns="91425" bIns="45700" anchor="t" anchorCtr="0">
            <a:spAutoFit/>
          </a:bodyPr>
          <a:lstStyle/>
          <a:p>
            <a:pPr marL="457200" lvl="1"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Wireframe là một dạng thiết kế tĩnh của website, ứng dụng hoặc sản phẩm khác trong đó các thành phần chính được bố trí chính xác và cấu trúc tổng thể của sản phẩm được hiển thị bằng các đường thẳng và hình học đơn giản khác. </a:t>
            </a:r>
          </a:p>
        </p:txBody>
      </p:sp>
      <p:pic>
        <p:nvPicPr>
          <p:cNvPr id="3" name="Picture 2"/>
          <p:cNvPicPr>
            <a:picLocks noChangeAspect="1"/>
          </p:cNvPicPr>
          <p:nvPr/>
        </p:nvPicPr>
        <p:blipFill>
          <a:blip r:embed="rId3"/>
          <a:stretch>
            <a:fillRect/>
          </a:stretch>
        </p:blipFill>
        <p:spPr>
          <a:xfrm>
            <a:off x="6792025" y="363592"/>
            <a:ext cx="2809875" cy="56388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8. Thiết kế wireframe</a:t>
            </a:r>
            <a:endParaRPr dirty="0"/>
          </a:p>
        </p:txBody>
      </p:sp>
      <p:sp>
        <p:nvSpPr>
          <p:cNvPr id="77" name="Google Shape;77;p4"/>
          <p:cNvSpPr txBox="1"/>
          <p:nvPr/>
        </p:nvSpPr>
        <p:spPr>
          <a:xfrm>
            <a:off x="466725" y="1057275"/>
            <a:ext cx="6362700" cy="4741545"/>
          </a:xfrm>
          <a:prstGeom prst="rect">
            <a:avLst/>
          </a:prstGeom>
          <a:noFill/>
          <a:ln>
            <a:noFill/>
          </a:ln>
        </p:spPr>
        <p:txBody>
          <a:bodyPr spcFirstLastPara="1" wrap="square" lIns="91425" tIns="45700" rIns="91425" bIns="45700" anchor="t" anchorCtr="0">
            <a:spAutoFit/>
          </a:bodyPr>
          <a:lstStyle/>
          <a:p>
            <a:pPr marL="457200" lvl="1"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Wireframe chỉ ra các khoảng trống, màu sắc, độ rộng, chiều cao, vị trí và bố cục của các thành phần chính của sản phẩm (chẳng hạn như các nút bấm, ô nhập liệu, vùng đồ họa,...). </a:t>
            </a:r>
          </a:p>
          <a:p>
            <a:pPr marL="457200" lvl="1"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Wireframe cung cấp cho người thiết kế và khách hàng cái nhìn tổng quát về sản phẩm trước khi bắt đầu quá trình phát triển và thiết kế chi tiết.</a:t>
            </a:r>
          </a:p>
        </p:txBody>
      </p:sp>
      <p:pic>
        <p:nvPicPr>
          <p:cNvPr id="3" name="Picture 2"/>
          <p:cNvPicPr>
            <a:picLocks noChangeAspect="1"/>
          </p:cNvPicPr>
          <p:nvPr/>
        </p:nvPicPr>
        <p:blipFill>
          <a:blip r:embed="rId3"/>
          <a:stretch>
            <a:fillRect/>
          </a:stretch>
        </p:blipFill>
        <p:spPr>
          <a:xfrm>
            <a:off x="6859270" y="1273810"/>
            <a:ext cx="4926330" cy="480885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8. Thiết kế wireframe</a:t>
            </a:r>
            <a:endParaRPr dirty="0"/>
          </a:p>
        </p:txBody>
      </p:sp>
      <p:sp>
        <p:nvSpPr>
          <p:cNvPr id="77" name="Google Shape;77;p4"/>
          <p:cNvSpPr txBox="1"/>
          <p:nvPr/>
        </p:nvSpPr>
        <p:spPr>
          <a:xfrm>
            <a:off x="466725" y="1058545"/>
            <a:ext cx="6130925" cy="4224655"/>
          </a:xfrm>
          <a:prstGeom prst="rect">
            <a:avLst/>
          </a:prstGeom>
          <a:noFill/>
          <a:ln>
            <a:noFill/>
          </a:ln>
        </p:spPr>
        <p:txBody>
          <a:bodyPr spcFirstLastPara="1" wrap="square" lIns="91425" tIns="45700" rIns="91425" bIns="45700" anchor="t" anchorCtr="0">
            <a:spAutoFit/>
          </a:bodyPr>
          <a:lstStyle/>
          <a:p>
            <a:pPr marL="457200" lvl="1"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Một số lợi ích của thiết kế wireframe bao gồm:</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Định hình được thiết kế tổng thể và cấu trúc sản phẩm.</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Tập trung năng lực vào các yếu tố chính của sản phẩm như cấu trúc, tính năng và bố cục, thay vì lo lắng về phần thiết kế chi tiết và đồ họa.</a:t>
            </a:r>
          </a:p>
        </p:txBody>
      </p:sp>
      <p:pic>
        <p:nvPicPr>
          <p:cNvPr id="2" name="Picture 1"/>
          <p:cNvPicPr>
            <a:picLocks noChangeAspect="1"/>
          </p:cNvPicPr>
          <p:nvPr/>
        </p:nvPicPr>
        <p:blipFill>
          <a:blip r:embed="rId3"/>
          <a:stretch>
            <a:fillRect/>
          </a:stretch>
        </p:blipFill>
        <p:spPr>
          <a:xfrm>
            <a:off x="7317105" y="1273810"/>
            <a:ext cx="4468495" cy="431101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8. Thiết kế wireframe</a:t>
            </a:r>
            <a:endParaRPr dirty="0"/>
          </a:p>
        </p:txBody>
      </p:sp>
      <p:sp>
        <p:nvSpPr>
          <p:cNvPr id="77" name="Google Shape;77;p4"/>
          <p:cNvSpPr txBox="1"/>
          <p:nvPr/>
        </p:nvSpPr>
        <p:spPr>
          <a:xfrm>
            <a:off x="466725" y="1058545"/>
            <a:ext cx="6552565" cy="5257800"/>
          </a:xfrm>
          <a:prstGeom prst="rect">
            <a:avLst/>
          </a:prstGeom>
          <a:noFill/>
          <a:ln>
            <a:noFill/>
          </a:ln>
        </p:spPr>
        <p:txBody>
          <a:bodyPr spcFirstLastPara="1" wrap="square" lIns="91425" tIns="45700" rIns="91425" bIns="45700" anchor="t" anchorCtr="0">
            <a:spAutoFit/>
          </a:bodyPr>
          <a:lstStyle/>
          <a:p>
            <a:pPr marL="457200" lvl="1"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Một số lợi ích của thiết kế wireframe bao gồm:</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Hiển thị các khả năng tương tác giữa các thành phần.</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Giúp người thiết kế và khách hàng đưa ra quyết định dễ dàng hơn trong các vấn đề thiết kế tổng thể.</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Đưa ra định hướng cho các nhà phát triển bắt đầu xây dựng sản phẩm.</a:t>
            </a:r>
          </a:p>
          <a:p>
            <a:pPr marL="457200" lvl="1" indent="-457200">
              <a:lnSpc>
                <a:spcPct val="120000"/>
              </a:lnSpc>
              <a:spcBef>
                <a:spcPts val="0"/>
              </a:spcBef>
              <a:buClr>
                <a:srgbClr val="DD7471"/>
              </a:buClr>
              <a:buFont typeface="Wingdings" panose="05000000000000000000" charset="0"/>
              <a:buChar char="§"/>
            </a:pPr>
            <a:endParaRPr lang="en-US" sz="2800">
              <a:latin typeface="Calibri" panose="020F0502020204030204" pitchFamily="34" charset="0"/>
              <a:cs typeface="Calibri" panose="020F0502020204030204" pitchFamily="34" charset="0"/>
              <a:sym typeface="+mn-ea"/>
            </a:endParaRPr>
          </a:p>
        </p:txBody>
      </p:sp>
      <p:pic>
        <p:nvPicPr>
          <p:cNvPr id="2" name="Picture 1"/>
          <p:cNvPicPr>
            <a:picLocks noChangeAspect="1"/>
          </p:cNvPicPr>
          <p:nvPr/>
        </p:nvPicPr>
        <p:blipFill>
          <a:blip r:embed="rId3"/>
          <a:stretch>
            <a:fillRect/>
          </a:stretch>
        </p:blipFill>
        <p:spPr>
          <a:xfrm>
            <a:off x="7571740" y="1202690"/>
            <a:ext cx="4213860" cy="37592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8. Thiết kế wireframe</a:t>
            </a:r>
            <a:endParaRPr dirty="0"/>
          </a:p>
        </p:txBody>
      </p:sp>
      <p:sp>
        <p:nvSpPr>
          <p:cNvPr id="77" name="Google Shape;77;p4"/>
          <p:cNvSpPr txBox="1"/>
          <p:nvPr/>
        </p:nvSpPr>
        <p:spPr>
          <a:xfrm>
            <a:off x="466725" y="1057275"/>
            <a:ext cx="5680710" cy="4224655"/>
          </a:xfrm>
          <a:prstGeom prst="rect">
            <a:avLst/>
          </a:prstGeom>
          <a:noFill/>
          <a:ln>
            <a:noFill/>
          </a:ln>
        </p:spPr>
        <p:txBody>
          <a:bodyPr spcFirstLastPara="1" wrap="square" lIns="91425" tIns="45700" rIns="91425" bIns="45700" anchor="t" anchorCtr="0">
            <a:spAutoFit/>
          </a:bodyPr>
          <a:lstStyle/>
          <a:p>
            <a:pPr marL="457200" lvl="1"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Wireframe không phải là một mô hình hoàn chỉnh</a:t>
            </a:r>
          </a:p>
          <a:p>
            <a:pPr marL="457200" lvl="1"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Nó là công cụ rất hữu ích trong quá trình thiết kế sản phẩm. </a:t>
            </a:r>
          </a:p>
          <a:p>
            <a:pPr marL="457200" lvl="1"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Dựa trên wireframe, các nhà thiết kế có thể phát triển các mô hình người dùng và thiết kế chi tiết hơn.</a:t>
            </a:r>
          </a:p>
          <a:p>
            <a:pPr marL="457200" lvl="1" indent="-457200">
              <a:lnSpc>
                <a:spcPct val="120000"/>
              </a:lnSpc>
              <a:spcBef>
                <a:spcPts val="0"/>
              </a:spcBef>
              <a:buClr>
                <a:srgbClr val="DD7471"/>
              </a:buClr>
              <a:buFont typeface="Wingdings" panose="05000000000000000000" charset="0"/>
              <a:buChar char="§"/>
            </a:pPr>
            <a:endParaRPr lang="en-US" sz="2800">
              <a:latin typeface="Calibri" panose="020F0502020204030204" pitchFamily="34" charset="0"/>
              <a:cs typeface="Calibri" panose="020F0502020204030204" pitchFamily="34" charset="0"/>
              <a:sym typeface="+mn-ea"/>
            </a:endParaRPr>
          </a:p>
        </p:txBody>
      </p:sp>
      <p:pic>
        <p:nvPicPr>
          <p:cNvPr id="3" name="Picture 2"/>
          <p:cNvPicPr>
            <a:picLocks noChangeAspect="1"/>
          </p:cNvPicPr>
          <p:nvPr/>
        </p:nvPicPr>
        <p:blipFill>
          <a:blip r:embed="rId3"/>
          <a:stretch>
            <a:fillRect/>
          </a:stretch>
        </p:blipFill>
        <p:spPr>
          <a:xfrm>
            <a:off x="7083425" y="1292225"/>
            <a:ext cx="4591685" cy="516826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8. Thiết kế wireframe với figma</a:t>
            </a:r>
            <a:endParaRPr dirty="0"/>
          </a:p>
        </p:txBody>
      </p:sp>
      <p:sp>
        <p:nvSpPr>
          <p:cNvPr id="77" name="Google Shape;77;p4"/>
          <p:cNvSpPr txBox="1"/>
          <p:nvPr/>
        </p:nvSpPr>
        <p:spPr>
          <a:xfrm>
            <a:off x="466725" y="1057275"/>
            <a:ext cx="5680710" cy="3707765"/>
          </a:xfrm>
          <a:prstGeom prst="rect">
            <a:avLst/>
          </a:prstGeom>
          <a:noFill/>
          <a:ln>
            <a:noFill/>
          </a:ln>
        </p:spPr>
        <p:txBody>
          <a:bodyPr spcFirstLastPara="1" wrap="square" lIns="91425" tIns="45700" rIns="91425" bIns="45700" anchor="t" anchorCtr="0">
            <a:spAutoFit/>
          </a:bodyPr>
          <a:lstStyle/>
          <a:p>
            <a:pPr marL="0" lvl="1"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Layout grid</a:t>
            </a:r>
          </a:p>
          <a:p>
            <a:pPr marL="457200" lvl="1"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Công cụ text</a:t>
            </a:r>
          </a:p>
          <a:p>
            <a:pPr marL="457200" lvl="1"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Công shape</a:t>
            </a:r>
          </a:p>
          <a:p>
            <a:pPr marL="457200" lvl="1"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Công cụ Pen</a:t>
            </a:r>
          </a:p>
          <a:p>
            <a:pPr marL="457200" lvl="1"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Tìm hiểu component</a:t>
            </a:r>
          </a:p>
          <a:p>
            <a:pPr marL="457200" lvl="1"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Plugin: Awersome</a:t>
            </a:r>
          </a:p>
          <a:p>
            <a:pPr marL="457200" lvl="1" indent="-457200">
              <a:lnSpc>
                <a:spcPct val="120000"/>
              </a:lnSpc>
              <a:spcBef>
                <a:spcPts val="0"/>
              </a:spcBef>
              <a:buClr>
                <a:srgbClr val="DD7471"/>
              </a:buClr>
              <a:buFont typeface="Wingdings" panose="05000000000000000000" charset="0"/>
              <a:buChar char="§"/>
            </a:pPr>
            <a:endParaRPr lang="en-US" sz="2800">
              <a:latin typeface="Calibri" panose="020F0502020204030204" pitchFamily="34" charset="0"/>
              <a:cs typeface="Calibri" panose="020F0502020204030204" pitchFamily="34" charset="0"/>
              <a:sym typeface="+mn-ea"/>
            </a:endParaRPr>
          </a:p>
        </p:txBody>
      </p:sp>
      <p:pic>
        <p:nvPicPr>
          <p:cNvPr id="3" name="Picture 2"/>
          <p:cNvPicPr>
            <a:picLocks noChangeAspect="1"/>
          </p:cNvPicPr>
          <p:nvPr/>
        </p:nvPicPr>
        <p:blipFill>
          <a:blip r:embed="rId3"/>
          <a:stretch>
            <a:fillRect/>
          </a:stretch>
        </p:blipFill>
        <p:spPr>
          <a:xfrm>
            <a:off x="7083425" y="1292225"/>
            <a:ext cx="4591685" cy="516826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8. Thiết kế wireframe với figma</a:t>
            </a:r>
            <a:endParaRPr dirty="0"/>
          </a:p>
        </p:txBody>
      </p:sp>
      <p:sp>
        <p:nvSpPr>
          <p:cNvPr id="77" name="Google Shape;77;p4"/>
          <p:cNvSpPr txBox="1"/>
          <p:nvPr/>
        </p:nvSpPr>
        <p:spPr>
          <a:xfrm>
            <a:off x="466725" y="1057275"/>
            <a:ext cx="5680710" cy="2157095"/>
          </a:xfrm>
          <a:prstGeom prst="rect">
            <a:avLst/>
          </a:prstGeom>
          <a:noFill/>
          <a:ln>
            <a:noFill/>
          </a:ln>
        </p:spPr>
        <p:txBody>
          <a:bodyPr spcFirstLastPara="1" wrap="square" lIns="91425" tIns="45700" rIns="91425" bIns="45700" anchor="t" anchorCtr="0">
            <a:spAutoFit/>
          </a:bodyPr>
          <a:lstStyle/>
          <a:p>
            <a:pPr marL="0" lvl="1"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Layout grid</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Layout chuẩn 12 cột theo chuẩn 960.gs</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Layout grid với figma</a:t>
            </a:r>
          </a:p>
        </p:txBody>
      </p:sp>
      <p:pic>
        <p:nvPicPr>
          <p:cNvPr id="2" name="Picture 1"/>
          <p:cNvPicPr>
            <a:picLocks noChangeAspect="1"/>
          </p:cNvPicPr>
          <p:nvPr/>
        </p:nvPicPr>
        <p:blipFill>
          <a:blip r:embed="rId3"/>
          <a:stretch>
            <a:fillRect/>
          </a:stretch>
        </p:blipFill>
        <p:spPr>
          <a:xfrm>
            <a:off x="7214870" y="1219835"/>
            <a:ext cx="4570730" cy="515175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8. Thiết kế wireframe với figma</a:t>
            </a:r>
            <a:endParaRPr dirty="0"/>
          </a:p>
        </p:txBody>
      </p:sp>
      <p:sp>
        <p:nvSpPr>
          <p:cNvPr id="77" name="Google Shape;77;p4"/>
          <p:cNvSpPr txBox="1"/>
          <p:nvPr/>
        </p:nvSpPr>
        <p:spPr>
          <a:xfrm>
            <a:off x="466725" y="1057275"/>
            <a:ext cx="5680710" cy="3190875"/>
          </a:xfrm>
          <a:prstGeom prst="rect">
            <a:avLst/>
          </a:prstGeom>
          <a:noFill/>
          <a:ln>
            <a:noFill/>
          </a:ln>
        </p:spPr>
        <p:txBody>
          <a:bodyPr spcFirstLastPara="1" wrap="square" lIns="91425" tIns="45700" rIns="91425" bIns="45700" anchor="t" anchorCtr="0">
            <a:spAutoFit/>
          </a:bodyPr>
          <a:lstStyle/>
          <a:p>
            <a:pPr marL="0" lvl="1"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Cách vẽ pen</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Đường cong, đường thẳng, kết thúc vẽ.</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Đổi màu đường cong</a:t>
            </a:r>
          </a:p>
          <a:p>
            <a:pPr marL="914400" lvl="2" indent="-457200">
              <a:lnSpc>
                <a:spcPct val="120000"/>
              </a:lnSpc>
              <a:spcBef>
                <a:spcPts val="0"/>
              </a:spcBef>
              <a:buClr>
                <a:srgbClr val="DD7471"/>
              </a:buClr>
              <a:buFont typeface="Arial" panose="020B0604020202020204" pitchFamily="34" charset="0"/>
              <a:buChar char="•"/>
            </a:pPr>
            <a:endParaRPr lang="en-US" sz="2800">
              <a:latin typeface="Calibri" panose="020F0502020204030204" pitchFamily="34" charset="0"/>
              <a:cs typeface="Calibri" panose="020F0502020204030204" pitchFamily="34" charset="0"/>
              <a:sym typeface="+mn-ea"/>
            </a:endParaRPr>
          </a:p>
          <a:p>
            <a:pPr marL="914400" lvl="2" indent="-457200">
              <a:lnSpc>
                <a:spcPct val="120000"/>
              </a:lnSpc>
              <a:spcBef>
                <a:spcPts val="0"/>
              </a:spcBef>
              <a:buClr>
                <a:srgbClr val="DD7471"/>
              </a:buClr>
              <a:buFont typeface="Arial" panose="020B0604020202020204" pitchFamily="34" charset="0"/>
              <a:buChar char="•"/>
            </a:pPr>
            <a:endParaRPr lang="en-US" sz="2800">
              <a:latin typeface="Calibri" panose="020F0502020204030204" pitchFamily="34" charset="0"/>
              <a:cs typeface="Calibri" panose="020F0502020204030204" pitchFamily="34" charset="0"/>
              <a:sym typeface="+mn-ea"/>
            </a:endParaRPr>
          </a:p>
        </p:txBody>
      </p:sp>
      <p:pic>
        <p:nvPicPr>
          <p:cNvPr id="2" name="Picture 1"/>
          <p:cNvPicPr>
            <a:picLocks noChangeAspect="1"/>
          </p:cNvPicPr>
          <p:nvPr/>
        </p:nvPicPr>
        <p:blipFill>
          <a:blip r:embed="rId3"/>
          <a:stretch>
            <a:fillRect/>
          </a:stretch>
        </p:blipFill>
        <p:spPr>
          <a:xfrm>
            <a:off x="7214870" y="1219835"/>
            <a:ext cx="4570730" cy="515175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8. Thiết kế wireframe với figma</a:t>
            </a:r>
            <a:endParaRPr dirty="0"/>
          </a:p>
        </p:txBody>
      </p:sp>
      <p:sp>
        <p:nvSpPr>
          <p:cNvPr id="77" name="Google Shape;77;p4"/>
          <p:cNvSpPr txBox="1"/>
          <p:nvPr/>
        </p:nvSpPr>
        <p:spPr>
          <a:xfrm>
            <a:off x="466725" y="1057275"/>
            <a:ext cx="5680710" cy="2673985"/>
          </a:xfrm>
          <a:prstGeom prst="rect">
            <a:avLst/>
          </a:prstGeom>
          <a:noFill/>
          <a:ln>
            <a:noFill/>
          </a:ln>
        </p:spPr>
        <p:txBody>
          <a:bodyPr spcFirstLastPara="1" wrap="square" lIns="91425" tIns="45700" rIns="91425" bIns="45700" anchor="t" anchorCtr="0">
            <a:spAutoFit/>
          </a:bodyPr>
          <a:lstStyle/>
          <a:p>
            <a:pPr marL="0" lvl="1"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Tìm hiểu component</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Component</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Instance</a:t>
            </a:r>
          </a:p>
          <a:p>
            <a:pPr marL="914400" lvl="2" indent="-457200">
              <a:lnSpc>
                <a:spcPct val="120000"/>
              </a:lnSpc>
              <a:spcBef>
                <a:spcPts val="0"/>
              </a:spcBef>
              <a:buClr>
                <a:srgbClr val="DD7471"/>
              </a:buClr>
              <a:buFont typeface="Arial" panose="020B0604020202020204" pitchFamily="34" charset="0"/>
              <a:buChar char="•"/>
            </a:pPr>
            <a:endParaRPr lang="en-US" sz="2800">
              <a:latin typeface="Calibri" panose="020F0502020204030204" pitchFamily="34" charset="0"/>
              <a:cs typeface="Calibri" panose="020F0502020204030204" pitchFamily="34" charset="0"/>
              <a:sym typeface="+mn-ea"/>
            </a:endParaRPr>
          </a:p>
          <a:p>
            <a:pPr marL="914400" lvl="2" indent="-457200">
              <a:lnSpc>
                <a:spcPct val="120000"/>
              </a:lnSpc>
              <a:spcBef>
                <a:spcPts val="0"/>
              </a:spcBef>
              <a:buClr>
                <a:srgbClr val="DD7471"/>
              </a:buClr>
              <a:buFont typeface="Arial" panose="020B0604020202020204" pitchFamily="34" charset="0"/>
              <a:buChar char="•"/>
            </a:pPr>
            <a:endParaRPr lang="en-US" sz="2800">
              <a:latin typeface="Calibri" panose="020F0502020204030204" pitchFamily="34" charset="0"/>
              <a:cs typeface="Calibri" panose="020F0502020204030204" pitchFamily="34" charset="0"/>
              <a:sym typeface="+mn-ea"/>
            </a:endParaRPr>
          </a:p>
        </p:txBody>
      </p:sp>
      <p:pic>
        <p:nvPicPr>
          <p:cNvPr id="2" name="Picture 1"/>
          <p:cNvPicPr>
            <a:picLocks noChangeAspect="1"/>
          </p:cNvPicPr>
          <p:nvPr/>
        </p:nvPicPr>
        <p:blipFill>
          <a:blip r:embed="rId3"/>
          <a:stretch>
            <a:fillRect/>
          </a:stretch>
        </p:blipFill>
        <p:spPr>
          <a:xfrm>
            <a:off x="7214870" y="1219835"/>
            <a:ext cx="4570730" cy="515175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8. Thiết kế wireframe với figma</a:t>
            </a:r>
            <a:endParaRPr dirty="0"/>
          </a:p>
        </p:txBody>
      </p:sp>
      <p:sp>
        <p:nvSpPr>
          <p:cNvPr id="77" name="Google Shape;77;p4"/>
          <p:cNvSpPr txBox="1"/>
          <p:nvPr/>
        </p:nvSpPr>
        <p:spPr>
          <a:xfrm>
            <a:off x="466725" y="1057275"/>
            <a:ext cx="5680710" cy="2673985"/>
          </a:xfrm>
          <a:prstGeom prst="rect">
            <a:avLst/>
          </a:prstGeom>
          <a:noFill/>
          <a:ln>
            <a:noFill/>
          </a:ln>
        </p:spPr>
        <p:txBody>
          <a:bodyPr spcFirstLastPara="1" wrap="square" lIns="91425" tIns="45700" rIns="91425" bIns="45700" anchor="t" anchorCtr="0">
            <a:spAutoFit/>
          </a:bodyPr>
          <a:lstStyle/>
          <a:p>
            <a:pPr marL="0" lvl="1" indent="-457200">
              <a:lnSpc>
                <a:spcPct val="120000"/>
              </a:lnSpc>
              <a:spcBef>
                <a:spcPts val="0"/>
              </a:spcBef>
              <a:buClr>
                <a:srgbClr val="DD7471"/>
              </a:buClr>
              <a:buFont typeface="Wingdings" panose="05000000000000000000" charset="0"/>
              <a:buChar char="§"/>
            </a:pPr>
            <a:r>
              <a:rPr lang="en-US" sz="2800">
                <a:latin typeface="Calibri" panose="020F0502020204030204" pitchFamily="34" charset="0"/>
                <a:cs typeface="Calibri" panose="020F0502020204030204" pitchFamily="34" charset="0"/>
                <a:sym typeface="+mn-ea"/>
              </a:rPr>
              <a:t>Plugin awersome</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Cài đặt</a:t>
            </a:r>
          </a:p>
          <a:p>
            <a:pPr marL="914400" lvl="2" indent="-457200">
              <a:lnSpc>
                <a:spcPct val="120000"/>
              </a:lnSpc>
              <a:spcBef>
                <a:spcPts val="0"/>
              </a:spcBef>
              <a:buClr>
                <a:srgbClr val="DD7471"/>
              </a:buClr>
              <a:buFont typeface="Arial" panose="020B0604020202020204" pitchFamily="34" charset="0"/>
              <a:buChar char="•"/>
            </a:pPr>
            <a:r>
              <a:rPr lang="en-US" sz="2800">
                <a:latin typeface="Calibri" panose="020F0502020204030204" pitchFamily="34" charset="0"/>
                <a:cs typeface="Calibri" panose="020F0502020204030204" pitchFamily="34" charset="0"/>
                <a:sym typeface="+mn-ea"/>
              </a:rPr>
              <a:t>Tìm icon</a:t>
            </a:r>
          </a:p>
          <a:p>
            <a:pPr marL="914400" lvl="2" indent="-457200">
              <a:lnSpc>
                <a:spcPct val="120000"/>
              </a:lnSpc>
              <a:spcBef>
                <a:spcPts val="0"/>
              </a:spcBef>
              <a:buClr>
                <a:srgbClr val="DD7471"/>
              </a:buClr>
              <a:buFont typeface="Arial" panose="020B0604020202020204" pitchFamily="34" charset="0"/>
              <a:buChar char="•"/>
            </a:pPr>
            <a:endParaRPr lang="en-US" sz="2800">
              <a:latin typeface="Calibri" panose="020F0502020204030204" pitchFamily="34" charset="0"/>
              <a:cs typeface="Calibri" panose="020F0502020204030204" pitchFamily="34" charset="0"/>
              <a:sym typeface="+mn-ea"/>
            </a:endParaRPr>
          </a:p>
          <a:p>
            <a:pPr marL="914400" lvl="2" indent="-457200">
              <a:lnSpc>
                <a:spcPct val="120000"/>
              </a:lnSpc>
              <a:spcBef>
                <a:spcPts val="0"/>
              </a:spcBef>
              <a:buClr>
                <a:srgbClr val="DD7471"/>
              </a:buClr>
              <a:buFont typeface="Arial" panose="020B0604020202020204" pitchFamily="34" charset="0"/>
              <a:buChar char="•"/>
            </a:pPr>
            <a:endParaRPr lang="en-US" sz="2800">
              <a:latin typeface="Calibri" panose="020F0502020204030204" pitchFamily="34" charset="0"/>
              <a:cs typeface="Calibri" panose="020F0502020204030204" pitchFamily="34" charset="0"/>
              <a:sym typeface="+mn-ea"/>
            </a:endParaRPr>
          </a:p>
        </p:txBody>
      </p:sp>
      <p:pic>
        <p:nvPicPr>
          <p:cNvPr id="2" name="Picture 1"/>
          <p:cNvPicPr>
            <a:picLocks noChangeAspect="1"/>
          </p:cNvPicPr>
          <p:nvPr/>
        </p:nvPicPr>
        <p:blipFill>
          <a:blip r:embed="rId3"/>
          <a:stretch>
            <a:fillRect/>
          </a:stretch>
        </p:blipFill>
        <p:spPr>
          <a:xfrm>
            <a:off x="7214870" y="1219835"/>
            <a:ext cx="4570730" cy="515175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47"/>
        <p:cNvGrpSpPr/>
        <p:nvPr/>
      </p:nvGrpSpPr>
      <p:grpSpPr>
        <a:xfrm>
          <a:off x="0" y="0"/>
          <a:ext cx="0" cy="0"/>
          <a:chOff x="0" y="0"/>
          <a:chExt cx="0" cy="0"/>
        </a:xfrm>
      </p:grpSpPr>
      <p:sp>
        <p:nvSpPr>
          <p:cNvPr id="348" name="Google Shape;348;p39"/>
          <p:cNvSpPr txBox="1">
            <a:spLocks noGrp="1"/>
          </p:cNvSpPr>
          <p:nvPr>
            <p:ph type="title"/>
          </p:nvPr>
        </p:nvSpPr>
        <p:spPr>
          <a:xfrm>
            <a:off x="406400" y="389892"/>
            <a:ext cx="11379200" cy="61383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2800"/>
              <a:buFont typeface="Quattrocento Sans" panose="020B0502050000020003"/>
              <a:buNone/>
            </a:pPr>
            <a:r>
              <a:rPr lang="en-US" dirty="0"/>
              <a:t>8. Thiết kế wireframe với figma</a:t>
            </a:r>
            <a:endParaRPr dirty="0"/>
          </a:p>
        </p:txBody>
      </p:sp>
      <p:sp>
        <p:nvSpPr>
          <p:cNvPr id="77" name="Google Shape;77;p4"/>
          <p:cNvSpPr txBox="1"/>
          <p:nvPr/>
        </p:nvSpPr>
        <p:spPr>
          <a:xfrm>
            <a:off x="252730" y="1057275"/>
            <a:ext cx="5680710" cy="3194680"/>
          </a:xfrm>
          <a:prstGeom prst="rect">
            <a:avLst/>
          </a:prstGeom>
          <a:noFill/>
          <a:ln>
            <a:noFill/>
          </a:ln>
        </p:spPr>
        <p:txBody>
          <a:bodyPr spcFirstLastPara="1" wrap="square" lIns="91425" tIns="45700" rIns="91425" bIns="45700" anchor="t" anchorCtr="0">
            <a:spAutoFit/>
          </a:bodyPr>
          <a:lstStyle/>
          <a:p>
            <a:pPr marL="457200" lvl="2" indent="0">
              <a:lnSpc>
                <a:spcPct val="120000"/>
              </a:lnSpc>
              <a:spcBef>
                <a:spcPts val="0"/>
              </a:spcBef>
              <a:buClr>
                <a:srgbClr val="DD7471"/>
              </a:buClr>
              <a:buFont typeface="Wingdings" panose="05000000000000000000" charset="0"/>
              <a:buNone/>
            </a:pPr>
            <a:r>
              <a:rPr lang="en-US" sz="2800" dirty="0">
                <a:latin typeface="Calibri" panose="020F0502020204030204" pitchFamily="34" charset="0"/>
                <a:cs typeface="Calibri" panose="020F0502020204030204" pitchFamily="34" charset="0"/>
                <a:sym typeface="+mn-ea"/>
              </a:rPr>
              <a:t>Demo wireframe </a:t>
            </a:r>
            <a:r>
              <a:rPr lang="en-US" sz="2800" dirty="0" err="1">
                <a:latin typeface="Calibri" panose="020F0502020204030204" pitchFamily="34" charset="0"/>
                <a:cs typeface="Calibri" panose="020F0502020204030204" pitchFamily="34" charset="0"/>
                <a:sym typeface="+mn-ea"/>
              </a:rPr>
              <a:t>trang</a:t>
            </a:r>
            <a:r>
              <a:rPr lang="en-US" sz="2800" dirty="0">
                <a:latin typeface="Calibri" panose="020F0502020204030204" pitchFamily="34" charset="0"/>
                <a:cs typeface="Calibri" panose="020F0502020204030204" pitchFamily="34" charset="0"/>
                <a:sym typeface="+mn-ea"/>
              </a:rPr>
              <a:t> </a:t>
            </a:r>
            <a:r>
              <a:rPr lang="en-US" sz="2800" dirty="0" err="1">
                <a:latin typeface="Calibri" panose="020F0502020204030204" pitchFamily="34" charset="0"/>
                <a:cs typeface="Calibri" panose="020F0502020204030204" pitchFamily="34" charset="0"/>
                <a:sym typeface="+mn-ea"/>
              </a:rPr>
              <a:t>chủ</a:t>
            </a:r>
            <a:endParaRPr lang="en-US" sz="2800" dirty="0">
              <a:latin typeface="Calibri" panose="020F0502020204030204" pitchFamily="34" charset="0"/>
              <a:cs typeface="Calibri" panose="020F0502020204030204" pitchFamily="34" charset="0"/>
              <a:sym typeface="+mn-ea"/>
            </a:endParaRPr>
          </a:p>
          <a:p>
            <a:pPr marL="914400" lvl="2" indent="-457200">
              <a:lnSpc>
                <a:spcPct val="120000"/>
              </a:lnSpc>
              <a:spcBef>
                <a:spcPts val="0"/>
              </a:spcBef>
              <a:buClr>
                <a:srgbClr val="DD7471"/>
              </a:buClr>
              <a:buFontTx/>
              <a:buChar char="-"/>
            </a:pPr>
            <a:r>
              <a:rPr lang="en-US" sz="2800" dirty="0">
                <a:latin typeface="Calibri" panose="020F0502020204030204" pitchFamily="34" charset="0"/>
                <a:cs typeface="Calibri" panose="020F0502020204030204" pitchFamily="34" charset="0"/>
                <a:sym typeface="+mn-ea"/>
              </a:rPr>
              <a:t>Show grid 12 </a:t>
            </a:r>
            <a:r>
              <a:rPr lang="en-US" sz="2800" dirty="0" err="1">
                <a:latin typeface="Calibri" panose="020F0502020204030204" pitchFamily="34" charset="0"/>
                <a:cs typeface="Calibri" panose="020F0502020204030204" pitchFamily="34" charset="0"/>
                <a:sym typeface="+mn-ea"/>
              </a:rPr>
              <a:t>cột</a:t>
            </a:r>
            <a:endParaRPr lang="en-US" sz="2800" dirty="0">
              <a:latin typeface="Calibri" panose="020F0502020204030204" pitchFamily="34" charset="0"/>
              <a:cs typeface="Calibri" panose="020F0502020204030204" pitchFamily="34" charset="0"/>
              <a:sym typeface="+mn-ea"/>
            </a:endParaRPr>
          </a:p>
          <a:p>
            <a:pPr marL="914400" lvl="2" indent="-457200">
              <a:lnSpc>
                <a:spcPct val="120000"/>
              </a:lnSpc>
              <a:spcBef>
                <a:spcPts val="0"/>
              </a:spcBef>
              <a:buClr>
                <a:srgbClr val="DD7471"/>
              </a:buClr>
              <a:buFontTx/>
              <a:buChar char="-"/>
            </a:pPr>
            <a:r>
              <a:rPr lang="en-US" sz="2800" dirty="0">
                <a:latin typeface="Calibri" panose="020F0502020204030204" pitchFamily="34" charset="0"/>
                <a:cs typeface="Calibri" panose="020F0502020204030204" pitchFamily="34" charset="0"/>
                <a:sym typeface="+mn-ea"/>
              </a:rPr>
              <a:t>Demo pen</a:t>
            </a:r>
          </a:p>
          <a:p>
            <a:pPr marL="914400" lvl="2" indent="-457200">
              <a:lnSpc>
                <a:spcPct val="120000"/>
              </a:lnSpc>
              <a:spcBef>
                <a:spcPts val="0"/>
              </a:spcBef>
              <a:buClr>
                <a:srgbClr val="DD7471"/>
              </a:buClr>
              <a:buFontTx/>
              <a:buChar char="-"/>
            </a:pPr>
            <a:r>
              <a:rPr lang="en-US" sz="2800" dirty="0" err="1">
                <a:latin typeface="Calibri" panose="020F0502020204030204" pitchFamily="34" charset="0"/>
                <a:cs typeface="Calibri" panose="020F0502020204030204" pitchFamily="34" charset="0"/>
                <a:sym typeface="+mn-ea"/>
              </a:rPr>
              <a:t>Cài</a:t>
            </a:r>
            <a:r>
              <a:rPr lang="en-US" sz="2800" dirty="0">
                <a:latin typeface="Calibri" panose="020F0502020204030204" pitchFamily="34" charset="0"/>
                <a:cs typeface="Calibri" panose="020F0502020204030204" pitchFamily="34" charset="0"/>
                <a:sym typeface="+mn-ea"/>
              </a:rPr>
              <a:t> </a:t>
            </a:r>
            <a:r>
              <a:rPr lang="en-US" sz="2800" dirty="0" err="1">
                <a:latin typeface="Calibri" panose="020F0502020204030204" pitchFamily="34" charset="0"/>
                <a:cs typeface="Calibri" panose="020F0502020204030204" pitchFamily="34" charset="0"/>
                <a:sym typeface="+mn-ea"/>
              </a:rPr>
              <a:t>đặt</a:t>
            </a:r>
            <a:r>
              <a:rPr lang="en-US" sz="2800" dirty="0">
                <a:latin typeface="Calibri" panose="020F0502020204030204" pitchFamily="34" charset="0"/>
                <a:cs typeface="Calibri" panose="020F0502020204030204" pitchFamily="34" charset="0"/>
                <a:sym typeface="+mn-ea"/>
              </a:rPr>
              <a:t> plugin font </a:t>
            </a:r>
            <a:r>
              <a:rPr lang="en-US" sz="2800" dirty="0" err="1">
                <a:latin typeface="Calibri" panose="020F0502020204030204" pitchFamily="34" charset="0"/>
                <a:cs typeface="Calibri" panose="020F0502020204030204" pitchFamily="34" charset="0"/>
                <a:sym typeface="+mn-ea"/>
              </a:rPr>
              <a:t>awersome</a:t>
            </a:r>
            <a:r>
              <a:rPr lang="en-US" sz="2800" dirty="0">
                <a:latin typeface="Calibri" panose="020F0502020204030204" pitchFamily="34" charset="0"/>
                <a:cs typeface="Calibri" panose="020F0502020204030204" pitchFamily="34" charset="0"/>
                <a:sym typeface="+mn-ea"/>
              </a:rPr>
              <a:t> (icons)</a:t>
            </a:r>
          </a:p>
          <a:p>
            <a:pPr marL="914400" lvl="2" indent="-457200">
              <a:lnSpc>
                <a:spcPct val="120000"/>
              </a:lnSpc>
              <a:spcBef>
                <a:spcPts val="0"/>
              </a:spcBef>
              <a:buClr>
                <a:srgbClr val="DD7471"/>
              </a:buClr>
              <a:buFont typeface="Arial" panose="020B0604020202020204" pitchFamily="34" charset="0"/>
              <a:buChar char="•"/>
            </a:pPr>
            <a:endParaRPr lang="en-US" sz="2800" dirty="0">
              <a:latin typeface="Calibri" panose="020F0502020204030204" pitchFamily="34" charset="0"/>
              <a:cs typeface="Calibri" panose="020F0502020204030204" pitchFamily="34" charset="0"/>
              <a:sym typeface="+mn-ea"/>
            </a:endParaRPr>
          </a:p>
        </p:txBody>
      </p:sp>
      <p:pic>
        <p:nvPicPr>
          <p:cNvPr id="3" name="Picture 2"/>
          <p:cNvPicPr>
            <a:picLocks noChangeAspect="1"/>
          </p:cNvPicPr>
          <p:nvPr/>
        </p:nvPicPr>
        <p:blipFill>
          <a:blip r:embed="rId3"/>
          <a:stretch>
            <a:fillRect/>
          </a:stretch>
        </p:blipFill>
        <p:spPr>
          <a:xfrm>
            <a:off x="7083425" y="1292225"/>
            <a:ext cx="4591685" cy="5168265"/>
          </a:xfrm>
          <a:prstGeom prst="rect">
            <a:avLst/>
          </a:prstGeom>
        </p:spPr>
      </p:pic>
    </p:spTree>
    <p:extLst>
      <p:ext uri="{BB962C8B-B14F-4D97-AF65-F5344CB8AC3E}">
        <p14:creationId xmlns:p14="http://schemas.microsoft.com/office/powerpoint/2010/main" val="3263241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40"/>
          <p:cNvSpPr/>
          <p:nvPr/>
        </p:nvSpPr>
        <p:spPr>
          <a:xfrm>
            <a:off x="1847850" y="5791373"/>
            <a:ext cx="9107104" cy="1066800"/>
          </a:xfrm>
          <a:prstGeom prst="rect">
            <a:avLst/>
          </a:prstGeom>
          <a:solidFill>
            <a:schemeClr val="accent6">
              <a:lumMod val="75000"/>
            </a:schemeClr>
          </a:solidFill>
          <a:ln>
            <a:noFill/>
          </a:ln>
        </p:spPr>
        <p:txBody>
          <a:bodyPr spcFirstLastPara="1" wrap="square" lIns="91425" tIns="45700" rIns="504000" bIns="45700" anchor="ctr" anchorCtr="0">
            <a:noAutofit/>
          </a:bodyPr>
          <a:lstStyle/>
          <a:p>
            <a:pPr marL="457200" marR="0" lvl="1" indent="0" algn="r" rtl="0">
              <a:spcBef>
                <a:spcPts val="0"/>
              </a:spcBef>
              <a:spcAft>
                <a:spcPts val="0"/>
              </a:spcAft>
              <a:buNone/>
            </a:pPr>
            <a:r>
              <a:rPr lang="en-US" sz="5000" b="1" i="0" u="none" strike="noStrike" cap="none">
                <a:solidFill>
                  <a:schemeClr val="lt1"/>
                </a:solidFill>
                <a:latin typeface="Quattrocento Sans" panose="020B0502050000020003"/>
                <a:ea typeface="Quattrocento Sans" panose="020B0502050000020003"/>
                <a:cs typeface="Quattrocento Sans" panose="020B0502050000020003"/>
                <a:sym typeface="Quattrocento Sans" panose="020B0502050000020003"/>
              </a:rPr>
              <a:t>TỔNG KẾT BÀI ONLINE 2</a:t>
            </a:r>
            <a:endParaRPr sz="5000" b="1" i="0" u="none" strike="noStrike" cap="none">
              <a:solidFill>
                <a:schemeClr val="lt1"/>
              </a:solidFill>
              <a:latin typeface="Quattrocento Sans" panose="020B0502050000020003"/>
              <a:ea typeface="Quattrocento Sans" panose="020B0502050000020003"/>
              <a:cs typeface="Quattrocento Sans" panose="020B0502050000020003"/>
              <a:sym typeface="Quattrocento Sans" panose="020B0502050000020003"/>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2440" y="-213995"/>
            <a:ext cx="6167755" cy="616775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1"/>
          <p:cNvSpPr txBox="1">
            <a:spLocks noGrp="1"/>
          </p:cNvSpPr>
          <p:nvPr>
            <p:ph type="title"/>
          </p:nvPr>
        </p:nvSpPr>
        <p:spPr>
          <a:xfrm>
            <a:off x="699655" y="237836"/>
            <a:ext cx="4800600" cy="484187"/>
          </a:xfrm>
          <a:prstGeom prst="rect">
            <a:avLst/>
          </a:prstGeom>
          <a:noFill/>
          <a:ln>
            <a:noFill/>
          </a:ln>
        </p:spPr>
        <p:txBody>
          <a:bodyPr spcFirstLastPara="1" wrap="square" lIns="91425" tIns="45700" rIns="91425" bIns="45700" anchor="ctr" anchorCtr="0">
            <a:normAutofit fontScale="90000"/>
          </a:bodyPr>
          <a:lstStyle/>
          <a:p>
            <a:pPr marL="0" lvl="0" indent="0" rtl="0">
              <a:spcBef>
                <a:spcPts val="0"/>
              </a:spcBef>
              <a:spcAft>
                <a:spcPts val="0"/>
              </a:spcAft>
              <a:buClr>
                <a:schemeClr val="dk2"/>
              </a:buClr>
              <a:buSzPct val="100000"/>
              <a:buFont typeface="Quattrocento Sans" panose="020B0502050000020003"/>
              <a:buNone/>
            </a:pPr>
            <a:r>
              <a:rPr lang="en-US" sz="3200" dirty="0" err="1"/>
              <a:t>Nội</a:t>
            </a:r>
            <a:r>
              <a:rPr lang="en-US" sz="3200" dirty="0"/>
              <a:t> dung </a:t>
            </a:r>
            <a:r>
              <a:rPr lang="en-US" sz="3200" dirty="0" err="1"/>
              <a:t>bài</a:t>
            </a:r>
            <a:r>
              <a:rPr lang="en-US" sz="3200" dirty="0"/>
              <a:t> 2</a:t>
            </a:r>
            <a:endParaRPr sz="3200" dirty="0"/>
          </a:p>
        </p:txBody>
      </p:sp>
      <p:sp>
        <p:nvSpPr>
          <p:cNvPr id="364" name="Google Shape;364;p41"/>
          <p:cNvSpPr txBox="1"/>
          <p:nvPr/>
        </p:nvSpPr>
        <p:spPr>
          <a:xfrm>
            <a:off x="533400" y="1143000"/>
            <a:ext cx="8125460" cy="5249545"/>
          </a:xfrm>
          <a:prstGeom prst="rect">
            <a:avLst/>
          </a:prstGeom>
          <a:noFill/>
          <a:ln>
            <a:noFill/>
          </a:ln>
        </p:spPr>
        <p:txBody>
          <a:bodyPr spcFirstLastPara="1" wrap="square" lIns="121875" tIns="60925" rIns="121875" bIns="60925" anchor="t" anchorCtr="0">
            <a:noAutofit/>
          </a:bodyPr>
          <a:lstStyle/>
          <a:p>
            <a:pPr lvl="0" indent="-457200" algn="just">
              <a:lnSpc>
                <a:spcPct val="120000"/>
              </a:lnSpc>
              <a:spcBef>
                <a:spcPts val="0"/>
              </a:spcBef>
              <a:buClr>
                <a:srgbClr val="DD7471"/>
              </a:buClr>
              <a:buFont typeface="Noto Sans Symbols"/>
              <a:buChar char="✔"/>
            </a:pPr>
            <a:r>
              <a:rPr lang="en-US" sz="2400" dirty="0">
                <a:solidFill>
                  <a:srgbClr val="262626"/>
                </a:solidFill>
                <a:latin typeface="Calibri" panose="020F0502020204030204" pitchFamily="34" charset="0"/>
                <a:cs typeface="Calibri" panose="020F0502020204030204" pitchFamily="34" charset="0"/>
                <a:sym typeface="+mn-ea"/>
              </a:rPr>
              <a:t>UX Insight là gì?</a:t>
            </a:r>
            <a:endParaRPr lang="en-US" sz="2400" b="0" dirty="0">
              <a:solidFill>
                <a:srgbClr val="262626"/>
              </a:solidFill>
              <a:latin typeface="Calibri" panose="020F0502020204030204" pitchFamily="34" charset="0"/>
              <a:cs typeface="Calibri" panose="020F0502020204030204" pitchFamily="34" charset="0"/>
            </a:endParaRPr>
          </a:p>
          <a:p>
            <a:pPr lvl="0" indent="-457200" algn="just">
              <a:lnSpc>
                <a:spcPct val="120000"/>
              </a:lnSpc>
              <a:spcBef>
                <a:spcPts val="0"/>
              </a:spcBef>
              <a:buClr>
                <a:srgbClr val="DD7471"/>
              </a:buClr>
              <a:buFont typeface="Noto Sans Symbols"/>
              <a:buChar char="✔"/>
            </a:pPr>
            <a:r>
              <a:rPr lang="en-US" sz="2400" dirty="0" err="1">
                <a:solidFill>
                  <a:srgbClr val="262626"/>
                </a:solidFill>
                <a:latin typeface="Calibri" panose="020F0502020204030204" pitchFamily="34" charset="0"/>
                <a:cs typeface="Calibri" panose="020F0502020204030204" pitchFamily="34" charset="0"/>
                <a:sym typeface="+mn-ea"/>
              </a:rPr>
              <a:t>Thiết</a:t>
            </a:r>
            <a:r>
              <a:rPr lang="en-US" sz="2400" dirty="0">
                <a:solidFill>
                  <a:srgbClr val="262626"/>
                </a:solidFill>
                <a:latin typeface="Calibri" panose="020F0502020204030204" pitchFamily="34" charset="0"/>
                <a:cs typeface="Calibri" panose="020F0502020204030204" pitchFamily="34" charset="0"/>
                <a:sym typeface="+mn-ea"/>
              </a:rPr>
              <a:t> </a:t>
            </a:r>
            <a:r>
              <a:rPr lang="en-US" sz="2400" dirty="0" err="1">
                <a:solidFill>
                  <a:srgbClr val="262626"/>
                </a:solidFill>
                <a:latin typeface="Calibri" panose="020F0502020204030204" pitchFamily="34" charset="0"/>
                <a:cs typeface="Calibri" panose="020F0502020204030204" pitchFamily="34" charset="0"/>
                <a:sym typeface="+mn-ea"/>
              </a:rPr>
              <a:t>kế</a:t>
            </a:r>
            <a:r>
              <a:rPr lang="en-US" sz="2400" dirty="0">
                <a:solidFill>
                  <a:srgbClr val="262626"/>
                </a:solidFill>
                <a:latin typeface="Calibri" panose="020F0502020204030204" pitchFamily="34" charset="0"/>
                <a:cs typeface="Calibri" panose="020F0502020204030204" pitchFamily="34" charset="0"/>
                <a:sym typeface="+mn-ea"/>
              </a:rPr>
              <a:t> </a:t>
            </a:r>
            <a:r>
              <a:rPr lang="en-US" sz="2400" dirty="0" err="1">
                <a:solidFill>
                  <a:srgbClr val="262626"/>
                </a:solidFill>
                <a:latin typeface="Calibri" panose="020F0502020204030204" pitchFamily="34" charset="0"/>
                <a:cs typeface="Calibri" panose="020F0502020204030204" pitchFamily="34" charset="0"/>
                <a:sym typeface="+mn-ea"/>
              </a:rPr>
              <a:t>người</a:t>
            </a:r>
            <a:r>
              <a:rPr lang="en-US" sz="2400" dirty="0">
                <a:solidFill>
                  <a:srgbClr val="262626"/>
                </a:solidFill>
                <a:latin typeface="Calibri" panose="020F0502020204030204" pitchFamily="34" charset="0"/>
                <a:cs typeface="Calibri" panose="020F0502020204030204" pitchFamily="34" charset="0"/>
                <a:sym typeface="+mn-ea"/>
              </a:rPr>
              <a:t> </a:t>
            </a:r>
            <a:r>
              <a:rPr lang="en-US" sz="2400" dirty="0" err="1">
                <a:solidFill>
                  <a:srgbClr val="262626"/>
                </a:solidFill>
                <a:latin typeface="Calibri" panose="020F0502020204030204" pitchFamily="34" charset="0"/>
                <a:cs typeface="Calibri" panose="020F0502020204030204" pitchFamily="34" charset="0"/>
                <a:sym typeface="+mn-ea"/>
              </a:rPr>
              <a:t>dùng</a:t>
            </a:r>
            <a:r>
              <a:rPr lang="en-US" sz="2400" dirty="0">
                <a:solidFill>
                  <a:srgbClr val="262626"/>
                </a:solidFill>
                <a:latin typeface="Calibri" panose="020F0502020204030204" pitchFamily="34" charset="0"/>
                <a:cs typeface="Calibri" panose="020F0502020204030204" pitchFamily="34" charset="0"/>
                <a:sym typeface="+mn-ea"/>
              </a:rPr>
              <a:t> </a:t>
            </a:r>
            <a:r>
              <a:rPr lang="en-US" sz="2400" dirty="0" err="1">
                <a:solidFill>
                  <a:srgbClr val="262626"/>
                </a:solidFill>
                <a:latin typeface="Calibri" panose="020F0502020204030204" pitchFamily="34" charset="0"/>
                <a:cs typeface="Calibri" panose="020F0502020204030204" pitchFamily="34" charset="0"/>
                <a:sym typeface="+mn-ea"/>
              </a:rPr>
              <a:t>làm</a:t>
            </a:r>
            <a:r>
              <a:rPr lang="en-US" sz="2400" dirty="0">
                <a:solidFill>
                  <a:srgbClr val="262626"/>
                </a:solidFill>
                <a:latin typeface="Calibri" panose="020F0502020204030204" pitchFamily="34" charset="0"/>
                <a:cs typeface="Calibri" panose="020F0502020204030204" pitchFamily="34" charset="0"/>
                <a:sym typeface="+mn-ea"/>
              </a:rPr>
              <a:t> </a:t>
            </a:r>
            <a:r>
              <a:rPr lang="en-US" sz="2400" dirty="0" err="1">
                <a:solidFill>
                  <a:srgbClr val="262626"/>
                </a:solidFill>
                <a:latin typeface="Calibri" panose="020F0502020204030204" pitchFamily="34" charset="0"/>
                <a:cs typeface="Calibri" panose="020F0502020204030204" pitchFamily="34" charset="0"/>
                <a:sym typeface="+mn-ea"/>
              </a:rPr>
              <a:t>trung</a:t>
            </a:r>
            <a:r>
              <a:rPr lang="en-US" sz="2400" dirty="0">
                <a:solidFill>
                  <a:srgbClr val="262626"/>
                </a:solidFill>
                <a:latin typeface="Calibri" panose="020F0502020204030204" pitchFamily="34" charset="0"/>
                <a:cs typeface="Calibri" panose="020F0502020204030204" pitchFamily="34" charset="0"/>
                <a:sym typeface="+mn-ea"/>
              </a:rPr>
              <a:t> </a:t>
            </a:r>
            <a:r>
              <a:rPr lang="en-US" sz="2400" dirty="0" err="1">
                <a:solidFill>
                  <a:srgbClr val="262626"/>
                </a:solidFill>
                <a:latin typeface="Calibri" panose="020F0502020204030204" pitchFamily="34" charset="0"/>
                <a:cs typeface="Calibri" panose="020F0502020204030204" pitchFamily="34" charset="0"/>
                <a:sym typeface="+mn-ea"/>
              </a:rPr>
              <a:t>tâm</a:t>
            </a:r>
            <a:endParaRPr lang="vi-VN" sz="2400" b="0" dirty="0">
              <a:solidFill>
                <a:srgbClr val="262626"/>
              </a:solidFill>
              <a:latin typeface="Calibri" panose="020F0502020204030204" pitchFamily="34" charset="0"/>
              <a:cs typeface="Calibri" panose="020F0502020204030204" pitchFamily="34" charset="0"/>
            </a:endParaRPr>
          </a:p>
          <a:p>
            <a:pPr indent="-457200" algn="just">
              <a:lnSpc>
                <a:spcPct val="120000"/>
              </a:lnSpc>
              <a:spcBef>
                <a:spcPts val="0"/>
              </a:spcBef>
              <a:buClr>
                <a:srgbClr val="DD7471"/>
              </a:buClr>
              <a:buFont typeface="Noto Sans Symbols"/>
              <a:buChar char="✔"/>
            </a:pPr>
            <a:r>
              <a:rPr lang="en-US" sz="2400" dirty="0" err="1">
                <a:solidFill>
                  <a:srgbClr val="262626"/>
                </a:solidFill>
                <a:latin typeface="Calibri" panose="020F0502020204030204" pitchFamily="34" charset="0"/>
                <a:cs typeface="Calibri" panose="020F0502020204030204" pitchFamily="34" charset="0"/>
                <a:sym typeface="+mn-ea"/>
              </a:rPr>
              <a:t>Phương</a:t>
            </a:r>
            <a:r>
              <a:rPr lang="en-US" sz="2400" dirty="0">
                <a:solidFill>
                  <a:srgbClr val="262626"/>
                </a:solidFill>
                <a:latin typeface="Calibri" panose="020F0502020204030204" pitchFamily="34" charset="0"/>
                <a:cs typeface="Calibri" panose="020F0502020204030204" pitchFamily="34" charset="0"/>
                <a:sym typeface="+mn-ea"/>
              </a:rPr>
              <a:t> </a:t>
            </a:r>
            <a:r>
              <a:rPr lang="en-US" sz="2400" dirty="0" err="1">
                <a:solidFill>
                  <a:srgbClr val="262626"/>
                </a:solidFill>
                <a:latin typeface="Calibri" panose="020F0502020204030204" pitchFamily="34" charset="0"/>
                <a:cs typeface="Calibri" panose="020F0502020204030204" pitchFamily="34" charset="0"/>
                <a:sym typeface="+mn-ea"/>
              </a:rPr>
              <a:t>pháp</a:t>
            </a:r>
            <a:r>
              <a:rPr lang="en-US" sz="2400" dirty="0">
                <a:solidFill>
                  <a:srgbClr val="262626"/>
                </a:solidFill>
                <a:latin typeface="Calibri" panose="020F0502020204030204" pitchFamily="34" charset="0"/>
                <a:cs typeface="Calibri" panose="020F0502020204030204" pitchFamily="34" charset="0"/>
                <a:sym typeface="+mn-ea"/>
              </a:rPr>
              <a:t> </a:t>
            </a:r>
            <a:r>
              <a:rPr lang="en-US" sz="2400" dirty="0" err="1">
                <a:solidFill>
                  <a:srgbClr val="262626"/>
                </a:solidFill>
                <a:latin typeface="Calibri" panose="020F0502020204030204" pitchFamily="34" charset="0"/>
                <a:cs typeface="Calibri" panose="020F0502020204030204" pitchFamily="34" charset="0"/>
                <a:sym typeface="+mn-ea"/>
              </a:rPr>
              <a:t>nghiên</a:t>
            </a:r>
            <a:r>
              <a:rPr lang="en-US" sz="2400" dirty="0">
                <a:solidFill>
                  <a:srgbClr val="262626"/>
                </a:solidFill>
                <a:latin typeface="Calibri" panose="020F0502020204030204" pitchFamily="34" charset="0"/>
                <a:cs typeface="Calibri" panose="020F0502020204030204" pitchFamily="34" charset="0"/>
                <a:sym typeface="+mn-ea"/>
              </a:rPr>
              <a:t> </a:t>
            </a:r>
            <a:r>
              <a:rPr lang="en-US" sz="2400" dirty="0" err="1">
                <a:solidFill>
                  <a:srgbClr val="262626"/>
                </a:solidFill>
                <a:latin typeface="Calibri" panose="020F0502020204030204" pitchFamily="34" charset="0"/>
                <a:cs typeface="Calibri" panose="020F0502020204030204" pitchFamily="34" charset="0"/>
                <a:sym typeface="+mn-ea"/>
              </a:rPr>
              <a:t>cứu người dùng</a:t>
            </a:r>
            <a:endParaRPr lang="en-US" sz="2400" b="0" dirty="0" err="1">
              <a:solidFill>
                <a:srgbClr val="262626"/>
              </a:solidFill>
              <a:latin typeface="Calibri" panose="020F0502020204030204" pitchFamily="34" charset="0"/>
              <a:cs typeface="Calibri" panose="020F0502020204030204" pitchFamily="34" charset="0"/>
            </a:endParaRPr>
          </a:p>
          <a:p>
            <a:pPr indent="-457200" algn="just">
              <a:lnSpc>
                <a:spcPct val="120000"/>
              </a:lnSpc>
              <a:spcBef>
                <a:spcPts val="0"/>
              </a:spcBef>
              <a:buClr>
                <a:srgbClr val="DD7471"/>
              </a:buClr>
              <a:buFont typeface="Noto Sans Symbols"/>
              <a:buChar char="✔"/>
            </a:pPr>
            <a:r>
              <a:rPr lang="en-US" sz="2400" dirty="0" err="1">
                <a:solidFill>
                  <a:srgbClr val="262626"/>
                </a:solidFill>
                <a:latin typeface="Calibri" panose="020F0502020204030204" pitchFamily="34" charset="0"/>
                <a:cs typeface="Calibri" panose="020F0502020204030204" pitchFamily="34" charset="0"/>
                <a:sym typeface="+mn-ea"/>
              </a:rPr>
              <a:t>Tính khả năng sử dụng sản phẩm</a:t>
            </a:r>
            <a:endParaRPr lang="en-US" sz="2400" b="0" dirty="0">
              <a:latin typeface="Calibri" panose="020F0502020204030204" pitchFamily="34" charset="0"/>
              <a:cs typeface="Calibri" panose="020F0502020204030204" pitchFamily="34" charset="0"/>
            </a:endParaRPr>
          </a:p>
          <a:p>
            <a:pPr indent="-457200">
              <a:lnSpc>
                <a:spcPct val="120000"/>
              </a:lnSpc>
              <a:spcBef>
                <a:spcPts val="0"/>
              </a:spcBef>
              <a:buClr>
                <a:srgbClr val="DD7471"/>
              </a:buClr>
              <a:buFont typeface="Noto Sans Symbols"/>
              <a:buChar char="✔"/>
            </a:pPr>
            <a:r>
              <a:rPr lang="en-US" sz="2400" dirty="0">
                <a:latin typeface="Calibri" panose="020F0502020204030204" pitchFamily="34" charset="0"/>
                <a:cs typeface="Calibri" panose="020F0502020204030204" pitchFamily="34" charset="0"/>
                <a:sym typeface="+mn-ea"/>
              </a:rPr>
              <a:t>Cách nghiên cứu hành vi người dùng</a:t>
            </a:r>
            <a:endParaRPr lang="en-US" sz="2400" b="0" dirty="0">
              <a:latin typeface="Calibri" panose="020F0502020204030204" pitchFamily="34" charset="0"/>
              <a:cs typeface="Calibri" panose="020F0502020204030204" pitchFamily="34" charset="0"/>
            </a:endParaRPr>
          </a:p>
          <a:p>
            <a:pPr indent="-457200">
              <a:lnSpc>
                <a:spcPct val="120000"/>
              </a:lnSpc>
              <a:spcBef>
                <a:spcPts val="0"/>
              </a:spcBef>
              <a:buClr>
                <a:srgbClr val="DD7471"/>
              </a:buClr>
              <a:buFont typeface="Noto Sans Symbols"/>
              <a:buChar char="✔"/>
            </a:pPr>
            <a:r>
              <a:rPr lang="en-US" sz="2400" dirty="0">
                <a:latin typeface="Calibri" panose="020F0502020204030204" pitchFamily="34" charset="0"/>
                <a:cs typeface="Calibri" panose="020F0502020204030204" pitchFamily="34" charset="0"/>
                <a:sym typeface="+mn-ea"/>
              </a:rPr>
              <a:t>Thiết kế wireframe với figma</a:t>
            </a:r>
            <a:endParaRPr sz="2400" dirty="0">
              <a:solidFill>
                <a:srgbClr val="262626"/>
              </a:solidFill>
              <a:latin typeface="Quattrocento Sans" panose="020B0502050000020003"/>
              <a:ea typeface="Quattrocento Sans" panose="020B0502050000020003"/>
              <a:cs typeface="Quattrocento Sans" panose="020B0502050000020003"/>
              <a:sym typeface="Quattrocento Sans" panose="020B0502050000020003"/>
            </a:endParaRPr>
          </a:p>
        </p:txBody>
      </p:sp>
      <p:pic>
        <p:nvPicPr>
          <p:cNvPr id="3" name="Picture 2"/>
          <p:cNvPicPr>
            <a:picLocks noChangeAspect="1"/>
          </p:cNvPicPr>
          <p:nvPr/>
        </p:nvPicPr>
        <p:blipFill>
          <a:blip r:embed="rId3"/>
          <a:stretch>
            <a:fillRect/>
          </a:stretch>
        </p:blipFill>
        <p:spPr>
          <a:xfrm>
            <a:off x="7214870" y="3804285"/>
            <a:ext cx="4079240" cy="265684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42"/>
          <p:cNvSpPr/>
          <p:nvPr/>
        </p:nvSpPr>
        <p:spPr>
          <a:xfrm>
            <a:off x="1981200" y="5810250"/>
            <a:ext cx="9107104" cy="1066800"/>
          </a:xfrm>
          <a:prstGeom prst="rect">
            <a:avLst/>
          </a:prstGeom>
          <a:solidFill>
            <a:schemeClr val="dk2"/>
          </a:solidFill>
          <a:ln>
            <a:noFill/>
          </a:ln>
        </p:spPr>
        <p:txBody>
          <a:bodyPr spcFirstLastPara="1" wrap="square" lIns="91425" tIns="45700" rIns="504000" bIns="45700" anchor="ctr" anchorCtr="0">
            <a:noAutofit/>
          </a:bodyPr>
          <a:lstStyle/>
          <a:p>
            <a:pPr marL="457200" marR="0" lvl="1" indent="0" algn="ctr" rtl="0">
              <a:spcBef>
                <a:spcPts val="0"/>
              </a:spcBef>
              <a:spcAft>
                <a:spcPts val="0"/>
              </a:spcAft>
              <a:buNone/>
            </a:pPr>
            <a:r>
              <a:rPr lang="en-US" sz="5000" b="1" i="0" u="none" strike="noStrike" cap="none" dirty="0">
                <a:solidFill>
                  <a:schemeClr val="lt1"/>
                </a:solidFill>
                <a:latin typeface="Quattrocento Sans" panose="020B0502050000020003"/>
                <a:ea typeface="Quattrocento Sans" panose="020B0502050000020003"/>
                <a:cs typeface="Quattrocento Sans" panose="020B0502050000020003"/>
                <a:sym typeface="Quattrocento Sans" panose="020B0502050000020003"/>
              </a:rPr>
              <a:t>GIỚI THIỆU BÀI ONLINE 3</a:t>
            </a:r>
            <a:endParaRPr sz="5000" b="1" i="0" u="none" strike="noStrike" cap="none" dirty="0">
              <a:solidFill>
                <a:schemeClr val="lt1"/>
              </a:solidFill>
              <a:latin typeface="Quattrocento Sans" panose="020B0502050000020003"/>
              <a:ea typeface="Quattrocento Sans" panose="020B0502050000020003"/>
              <a:cs typeface="Quattrocento Sans" panose="020B0502050000020003"/>
              <a:sym typeface="Quattrocento Sans" panose="020B0502050000020003"/>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7073" y="397163"/>
            <a:ext cx="6858000"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43"/>
          <p:cNvSpPr txBox="1">
            <a:spLocks noGrp="1"/>
          </p:cNvSpPr>
          <p:nvPr>
            <p:ph type="title"/>
          </p:nvPr>
        </p:nvSpPr>
        <p:spPr>
          <a:xfrm>
            <a:off x="533400" y="228600"/>
            <a:ext cx="11228705" cy="4838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accent2"/>
              </a:buClr>
              <a:buSzPct val="100000"/>
              <a:buFont typeface="Quattrocento Sans" panose="020B0502050000020003"/>
              <a:buNone/>
            </a:pPr>
            <a:r>
              <a:rPr lang="en-US" sz="3110">
                <a:solidFill>
                  <a:schemeClr val="bg2"/>
                </a:solidFill>
              </a:rPr>
              <a:t>Nội dung bài online 3: </a:t>
            </a:r>
          </a:p>
        </p:txBody>
      </p:sp>
      <p:sp>
        <p:nvSpPr>
          <p:cNvPr id="379" name="Google Shape;379;p43"/>
          <p:cNvSpPr txBox="1"/>
          <p:nvPr/>
        </p:nvSpPr>
        <p:spPr>
          <a:xfrm>
            <a:off x="533400" y="1143000"/>
            <a:ext cx="7529945" cy="4925100"/>
          </a:xfrm>
          <a:prstGeom prst="rect">
            <a:avLst/>
          </a:prstGeom>
          <a:noFill/>
          <a:ln>
            <a:noFill/>
          </a:ln>
        </p:spPr>
        <p:txBody>
          <a:bodyPr spcFirstLastPara="1" wrap="square" lIns="121875" tIns="60925" rIns="121875" bIns="60925" anchor="t" anchorCtr="0">
            <a:noAutofit/>
          </a:bodyPr>
          <a:lstStyle/>
          <a:p>
            <a:pPr marL="73025" lvl="0" indent="-152400">
              <a:lnSpc>
                <a:spcPct val="130000"/>
              </a:lnSpc>
              <a:spcBef>
                <a:spcPts val="480"/>
              </a:spcBef>
              <a:buClr>
                <a:schemeClr val="dk2"/>
              </a:buClr>
              <a:buSzPts val="2400"/>
              <a:buFont typeface="Noto Sans Symbols"/>
              <a:buChar char="⮚"/>
            </a:pPr>
            <a:r>
              <a:rPr lang="en-US" sz="2400" dirty="0">
                <a:solidFill>
                  <a:schemeClr val="dk1"/>
                </a:solidFill>
                <a:latin typeface="Quattrocento Sans" panose="020B0502050000020003"/>
                <a:ea typeface="Quattrocento Sans" panose="020B0502050000020003"/>
                <a:cs typeface="Quattrocento Sans" panose="020B0502050000020003"/>
                <a:sym typeface="Quattrocento Sans" panose="020B0502050000020003"/>
              </a:rPr>
              <a:t> </a:t>
            </a:r>
            <a:r>
              <a:rPr lang="en-US" sz="2400" dirty="0" err="1">
                <a:solidFill>
                  <a:schemeClr val="dk1"/>
                </a:solidFill>
                <a:latin typeface="Quattrocento Sans" panose="020B0502050000020003"/>
                <a:ea typeface="Quattrocento Sans" panose="020B0502050000020003"/>
                <a:cs typeface="Quattrocento Sans" panose="020B0502050000020003"/>
                <a:sym typeface="Quattrocento Sans" panose="020B0502050000020003"/>
              </a:rPr>
              <a:t>Sáng</a:t>
            </a:r>
            <a:r>
              <a:rPr lang="en-US" sz="2400" dirty="0">
                <a:solidFill>
                  <a:schemeClr val="dk1"/>
                </a:solidFill>
                <a:latin typeface="Quattrocento Sans" panose="020B0502050000020003"/>
                <a:ea typeface="Quattrocento Sans" panose="020B0502050000020003"/>
                <a:cs typeface="Quattrocento Sans" panose="020B0502050000020003"/>
                <a:sym typeface="Quattrocento Sans" panose="020B0502050000020003"/>
              </a:rPr>
              <a:t> </a:t>
            </a:r>
            <a:r>
              <a:rPr lang="en-US" sz="2400" dirty="0" err="1">
                <a:solidFill>
                  <a:schemeClr val="dk1"/>
                </a:solidFill>
                <a:latin typeface="Quattrocento Sans" panose="020B0502050000020003"/>
                <a:ea typeface="Quattrocento Sans" panose="020B0502050000020003"/>
                <a:cs typeface="Quattrocento Sans" panose="020B0502050000020003"/>
                <a:sym typeface="Quattrocento Sans" panose="020B0502050000020003"/>
              </a:rPr>
              <a:t>tạo</a:t>
            </a:r>
            <a:r>
              <a:rPr lang="en-US" sz="2400" dirty="0">
                <a:solidFill>
                  <a:schemeClr val="dk1"/>
                </a:solidFill>
                <a:latin typeface="Quattrocento Sans" panose="020B0502050000020003"/>
                <a:ea typeface="Quattrocento Sans" panose="020B0502050000020003"/>
                <a:cs typeface="Quattrocento Sans" panose="020B0502050000020003"/>
                <a:sym typeface="Quattrocento Sans" panose="020B0502050000020003"/>
              </a:rPr>
              <a:t> </a:t>
            </a:r>
            <a:r>
              <a:rPr lang="en-US" sz="2400" dirty="0" err="1">
                <a:solidFill>
                  <a:schemeClr val="dk1"/>
                </a:solidFill>
                <a:latin typeface="Quattrocento Sans" panose="020B0502050000020003"/>
                <a:ea typeface="Quattrocento Sans" panose="020B0502050000020003"/>
                <a:cs typeface="Quattrocento Sans" panose="020B0502050000020003"/>
                <a:sym typeface="Quattrocento Sans" panose="020B0502050000020003"/>
              </a:rPr>
              <a:t>và</a:t>
            </a:r>
            <a:r>
              <a:rPr lang="en-US" sz="2400" dirty="0">
                <a:solidFill>
                  <a:schemeClr val="dk1"/>
                </a:solidFill>
                <a:latin typeface="Quattrocento Sans" panose="020B0502050000020003"/>
                <a:ea typeface="Quattrocento Sans" panose="020B0502050000020003"/>
                <a:cs typeface="Quattrocento Sans" panose="020B0502050000020003"/>
                <a:sym typeface="Quattrocento Sans" panose="020B0502050000020003"/>
              </a:rPr>
              <a:t> </a:t>
            </a:r>
            <a:r>
              <a:rPr lang="en-US" sz="2400" dirty="0" err="1">
                <a:solidFill>
                  <a:schemeClr val="dk1"/>
                </a:solidFill>
                <a:latin typeface="Quattrocento Sans" panose="020B0502050000020003"/>
                <a:ea typeface="Quattrocento Sans" panose="020B0502050000020003"/>
                <a:cs typeface="Quattrocento Sans" panose="020B0502050000020003"/>
                <a:sym typeface="Quattrocento Sans" panose="020B0502050000020003"/>
              </a:rPr>
              <a:t>độc</a:t>
            </a:r>
            <a:r>
              <a:rPr lang="en-US" sz="2400" dirty="0">
                <a:solidFill>
                  <a:schemeClr val="dk1"/>
                </a:solidFill>
                <a:latin typeface="Quattrocento Sans" panose="020B0502050000020003"/>
                <a:ea typeface="Quattrocento Sans" panose="020B0502050000020003"/>
                <a:cs typeface="Quattrocento Sans" panose="020B0502050000020003"/>
                <a:sym typeface="Quattrocento Sans" panose="020B0502050000020003"/>
              </a:rPr>
              <a:t> </a:t>
            </a:r>
            <a:r>
              <a:rPr lang="en-US" sz="2400" dirty="0" err="1">
                <a:solidFill>
                  <a:schemeClr val="dk1"/>
                </a:solidFill>
                <a:latin typeface="Quattrocento Sans" panose="020B0502050000020003"/>
                <a:ea typeface="Quattrocento Sans" panose="020B0502050000020003"/>
                <a:cs typeface="Quattrocento Sans" panose="020B0502050000020003"/>
                <a:sym typeface="Quattrocento Sans" panose="020B0502050000020003"/>
              </a:rPr>
              <a:t>đáo</a:t>
            </a:r>
            <a:r>
              <a:rPr lang="en-US" sz="2400" dirty="0">
                <a:solidFill>
                  <a:schemeClr val="dk1"/>
                </a:solidFill>
                <a:latin typeface="Quattrocento Sans" panose="020B0502050000020003"/>
                <a:ea typeface="Quattrocento Sans" panose="020B0502050000020003"/>
                <a:cs typeface="Quattrocento Sans" panose="020B0502050000020003"/>
                <a:sym typeface="Quattrocento Sans" panose="020B0502050000020003"/>
              </a:rPr>
              <a:t>  </a:t>
            </a:r>
          </a:p>
          <a:p>
            <a:pPr lvl="0">
              <a:lnSpc>
                <a:spcPct val="130000"/>
              </a:lnSpc>
              <a:spcBef>
                <a:spcPts val="480"/>
              </a:spcBef>
              <a:buClr>
                <a:schemeClr val="dk2"/>
              </a:buClr>
              <a:buSzPts val="2400"/>
            </a:pPr>
            <a:r>
              <a:rPr lang="en-US" sz="2400" dirty="0">
                <a:solidFill>
                  <a:schemeClr val="dk1"/>
                </a:solidFill>
                <a:latin typeface="Quattrocento Sans" panose="020B0502050000020003"/>
                <a:ea typeface="Quattrocento Sans" panose="020B0502050000020003"/>
                <a:cs typeface="Quattrocento Sans" panose="020B0502050000020003"/>
                <a:sym typeface="Quattrocento Sans" panose="020B0502050000020003"/>
              </a:rPr>
              <a:t>- </a:t>
            </a:r>
            <a:r>
              <a:rPr lang="en-US" sz="2400" dirty="0" err="1">
                <a:solidFill>
                  <a:schemeClr val="dk1"/>
                </a:solidFill>
                <a:latin typeface="Quattrocento Sans" panose="020B0502050000020003"/>
                <a:ea typeface="Quattrocento Sans" panose="020B0502050000020003"/>
                <a:cs typeface="Quattrocento Sans" panose="020B0502050000020003"/>
                <a:sym typeface="Quattrocento Sans" panose="020B0502050000020003"/>
              </a:rPr>
              <a:t>Phân</a:t>
            </a:r>
            <a:r>
              <a:rPr lang="en-US" sz="2400" dirty="0">
                <a:solidFill>
                  <a:schemeClr val="dk1"/>
                </a:solidFill>
                <a:latin typeface="Quattrocento Sans" panose="020B0502050000020003"/>
                <a:ea typeface="Quattrocento Sans" panose="020B0502050000020003"/>
                <a:cs typeface="Quattrocento Sans" panose="020B0502050000020003"/>
                <a:sym typeface="Quattrocento Sans" panose="020B0502050000020003"/>
              </a:rPr>
              <a:t> </a:t>
            </a:r>
            <a:r>
              <a:rPr lang="en-US" sz="2400" dirty="0" err="1">
                <a:solidFill>
                  <a:schemeClr val="dk1"/>
                </a:solidFill>
                <a:latin typeface="Quattrocento Sans" panose="020B0502050000020003"/>
                <a:ea typeface="Quattrocento Sans" panose="020B0502050000020003"/>
                <a:cs typeface="Quattrocento Sans" panose="020B0502050000020003"/>
                <a:sym typeface="Quattrocento Sans" panose="020B0502050000020003"/>
              </a:rPr>
              <a:t>tích</a:t>
            </a:r>
            <a:r>
              <a:rPr lang="en-US" sz="2400" dirty="0">
                <a:solidFill>
                  <a:schemeClr val="dk1"/>
                </a:solidFill>
                <a:latin typeface="Quattrocento Sans" panose="020B0502050000020003"/>
                <a:ea typeface="Quattrocento Sans" panose="020B0502050000020003"/>
                <a:cs typeface="Quattrocento Sans" panose="020B0502050000020003"/>
                <a:sym typeface="Quattrocento Sans" panose="020B0502050000020003"/>
              </a:rPr>
              <a:t> </a:t>
            </a:r>
            <a:r>
              <a:rPr lang="en-US" sz="2400" dirty="0" err="1">
                <a:solidFill>
                  <a:schemeClr val="dk1"/>
                </a:solidFill>
                <a:latin typeface="Quattrocento Sans" panose="020B0502050000020003"/>
                <a:ea typeface="Quattrocento Sans" panose="020B0502050000020003"/>
                <a:cs typeface="Quattrocento Sans" panose="020B0502050000020003"/>
                <a:sym typeface="Quattrocento Sans" panose="020B0502050000020003"/>
              </a:rPr>
              <a:t>và</a:t>
            </a:r>
            <a:r>
              <a:rPr lang="en-US" sz="2400" dirty="0">
                <a:solidFill>
                  <a:schemeClr val="dk1"/>
                </a:solidFill>
                <a:latin typeface="Quattrocento Sans" panose="020B0502050000020003"/>
                <a:ea typeface="Quattrocento Sans" panose="020B0502050000020003"/>
                <a:cs typeface="Quattrocento Sans" panose="020B0502050000020003"/>
                <a:sym typeface="Quattrocento Sans" panose="020B0502050000020003"/>
              </a:rPr>
              <a:t> </a:t>
            </a:r>
            <a:r>
              <a:rPr lang="en-US" sz="2400" dirty="0" err="1">
                <a:solidFill>
                  <a:schemeClr val="dk1"/>
                </a:solidFill>
                <a:latin typeface="Quattrocento Sans" panose="020B0502050000020003"/>
                <a:ea typeface="Quattrocento Sans" panose="020B0502050000020003"/>
                <a:cs typeface="Quattrocento Sans" panose="020B0502050000020003"/>
                <a:sym typeface="Quattrocento Sans" panose="020B0502050000020003"/>
              </a:rPr>
              <a:t>xây</a:t>
            </a:r>
            <a:r>
              <a:rPr lang="en-US" sz="2400" dirty="0">
                <a:solidFill>
                  <a:schemeClr val="dk1"/>
                </a:solidFill>
                <a:latin typeface="Quattrocento Sans" panose="020B0502050000020003"/>
                <a:ea typeface="Quattrocento Sans" panose="020B0502050000020003"/>
                <a:cs typeface="Quattrocento Sans" panose="020B0502050000020003"/>
                <a:sym typeface="Quattrocento Sans" panose="020B0502050000020003"/>
              </a:rPr>
              <a:t> </a:t>
            </a:r>
            <a:r>
              <a:rPr lang="en-US" sz="2400" dirty="0" err="1">
                <a:solidFill>
                  <a:schemeClr val="dk1"/>
                </a:solidFill>
                <a:latin typeface="Quattrocento Sans" panose="020B0502050000020003"/>
                <a:ea typeface="Quattrocento Sans" panose="020B0502050000020003"/>
                <a:cs typeface="Quattrocento Sans" panose="020B0502050000020003"/>
                <a:sym typeface="Quattrocento Sans" panose="020B0502050000020003"/>
              </a:rPr>
              <a:t>dựng</a:t>
            </a:r>
            <a:r>
              <a:rPr lang="en-US" sz="2400" dirty="0">
                <a:solidFill>
                  <a:schemeClr val="dk1"/>
                </a:solidFill>
                <a:latin typeface="Quattrocento Sans" panose="020B0502050000020003"/>
                <a:ea typeface="Quattrocento Sans" panose="020B0502050000020003"/>
                <a:cs typeface="Quattrocento Sans" panose="020B0502050000020003"/>
                <a:sym typeface="Quattrocento Sans" panose="020B0502050000020003"/>
              </a:rPr>
              <a:t> </a:t>
            </a:r>
            <a:r>
              <a:rPr lang="en-US" sz="2400" dirty="0" err="1">
                <a:solidFill>
                  <a:schemeClr val="dk1"/>
                </a:solidFill>
                <a:latin typeface="Quattrocento Sans" panose="020B0502050000020003"/>
                <a:ea typeface="Quattrocento Sans" panose="020B0502050000020003"/>
                <a:cs typeface="Quattrocento Sans" panose="020B0502050000020003"/>
                <a:sym typeface="Quattrocento Sans" panose="020B0502050000020003"/>
              </a:rPr>
              <a:t>các</a:t>
            </a:r>
            <a:r>
              <a:rPr lang="en-US" sz="2400" dirty="0">
                <a:solidFill>
                  <a:schemeClr val="dk1"/>
                </a:solidFill>
                <a:latin typeface="Quattrocento Sans" panose="020B0502050000020003"/>
                <a:ea typeface="Quattrocento Sans" panose="020B0502050000020003"/>
                <a:cs typeface="Quattrocento Sans" panose="020B0502050000020003"/>
                <a:sym typeface="Quattrocento Sans" panose="020B0502050000020003"/>
              </a:rPr>
              <a:t> </a:t>
            </a:r>
            <a:r>
              <a:rPr lang="en-US" sz="2400" dirty="0" err="1">
                <a:solidFill>
                  <a:schemeClr val="dk1"/>
                </a:solidFill>
                <a:latin typeface="Quattrocento Sans" panose="020B0502050000020003"/>
                <a:ea typeface="Quattrocento Sans" panose="020B0502050000020003"/>
                <a:cs typeface="Quattrocento Sans" panose="020B0502050000020003"/>
                <a:sym typeface="Quattrocento Sans" panose="020B0502050000020003"/>
              </a:rPr>
              <a:t>chức</a:t>
            </a:r>
            <a:r>
              <a:rPr lang="en-US" sz="2400" dirty="0">
                <a:solidFill>
                  <a:schemeClr val="dk1"/>
                </a:solidFill>
                <a:latin typeface="Quattrocento Sans" panose="020B0502050000020003"/>
                <a:ea typeface="Quattrocento Sans" panose="020B0502050000020003"/>
                <a:cs typeface="Quattrocento Sans" panose="020B0502050000020003"/>
                <a:sym typeface="Quattrocento Sans" panose="020B0502050000020003"/>
              </a:rPr>
              <a:t> </a:t>
            </a:r>
            <a:r>
              <a:rPr lang="en-US" sz="2400" dirty="0" err="1">
                <a:solidFill>
                  <a:schemeClr val="dk1"/>
                </a:solidFill>
                <a:latin typeface="Quattrocento Sans" panose="020B0502050000020003"/>
                <a:ea typeface="Quattrocento Sans" panose="020B0502050000020003"/>
                <a:cs typeface="Quattrocento Sans" panose="020B0502050000020003"/>
                <a:sym typeface="Quattrocento Sans" panose="020B0502050000020003"/>
              </a:rPr>
              <a:t>năng</a:t>
            </a:r>
            <a:endParaRPr lang="en-US" sz="2400" dirty="0">
              <a:solidFill>
                <a:schemeClr val="dk1"/>
              </a:solidFill>
              <a:latin typeface="Quattrocento Sans" panose="020B0502050000020003"/>
              <a:ea typeface="Quattrocento Sans" panose="020B0502050000020003"/>
              <a:cs typeface="Quattrocento Sans" panose="020B0502050000020003"/>
              <a:sym typeface="Quattrocento Sans" panose="020B0502050000020003"/>
            </a:endParaRPr>
          </a:p>
          <a:p>
            <a:pPr lvl="0">
              <a:lnSpc>
                <a:spcPct val="130000"/>
              </a:lnSpc>
              <a:spcBef>
                <a:spcPts val="480"/>
              </a:spcBef>
              <a:buClr>
                <a:schemeClr val="dk2"/>
              </a:buClr>
              <a:buSzPts val="2400"/>
            </a:pPr>
            <a:r>
              <a:rPr lang="vi-VN" sz="2400" dirty="0">
                <a:solidFill>
                  <a:schemeClr val="dk1"/>
                </a:solidFill>
                <a:latin typeface="Quattrocento Sans" panose="020B0502050000020003"/>
                <a:ea typeface="Quattrocento Sans" panose="020B0502050000020003"/>
                <a:cs typeface="Quattrocento Sans" panose="020B0502050000020003"/>
                <a:sym typeface="Quattrocento Sans" panose="020B0502050000020003"/>
              </a:rPr>
              <a:t>- Tính thương hiệu trong thiết kế UI/UX</a:t>
            </a:r>
            <a:endParaRPr lang="en-US" sz="2400" dirty="0">
              <a:solidFill>
                <a:schemeClr val="dk1"/>
              </a:solidFill>
              <a:latin typeface="Quattrocento Sans" panose="020B0502050000020003"/>
              <a:ea typeface="Quattrocento Sans" panose="020B0502050000020003"/>
              <a:cs typeface="Quattrocento Sans" panose="020B0502050000020003"/>
              <a:sym typeface="Quattrocento Sans" panose="020B0502050000020003"/>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7" name="Google Shape;387;p44"/>
          <p:cNvSpPr/>
          <p:nvPr/>
        </p:nvSpPr>
        <p:spPr>
          <a:xfrm>
            <a:off x="257175" y="170330"/>
            <a:ext cx="2714625" cy="857310"/>
          </a:xfrm>
          <a:prstGeom prst="parallelogram">
            <a:avLst>
              <a:gd name="adj" fmla="val 25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389" name="Google Shape;389;p44"/>
          <p:cNvPicPr preferRelativeResize="0"/>
          <p:nvPr/>
        </p:nvPicPr>
        <p:blipFill rotWithShape="1">
          <a:blip r:embed="rId3"/>
          <a:srcRect/>
          <a:stretch>
            <a:fillRect/>
          </a:stretch>
        </p:blipFill>
        <p:spPr>
          <a:xfrm>
            <a:off x="2971800" y="884396"/>
            <a:ext cx="5800725" cy="4603622"/>
          </a:xfrm>
          <a:prstGeom prst="rect">
            <a:avLst/>
          </a:prstGeom>
          <a:noFill/>
          <a:ln>
            <a:noFill/>
          </a:ln>
        </p:spPr>
      </p:pic>
    </p:spTree>
  </p:cSld>
  <p:clrMapOvr>
    <a:masterClrMapping/>
  </p:clrMapOvr>
  <p:transition spd="slow">
    <p:wipe dir="d"/>
  </p:transition>
</p:sld>
</file>

<file path=ppt/theme/theme1.xml><?xml version="1.0" encoding="utf-8"?>
<a:theme xmlns:a="http://schemas.openxmlformats.org/drawingml/2006/main" name="Custom Design">
  <a:themeElements>
    <a:clrScheme name="Custom 12">
      <a:dk1>
        <a:srgbClr val="000000"/>
      </a:dk1>
      <a:lt1>
        <a:srgbClr val="FFFFFF"/>
      </a:lt1>
      <a:dk2>
        <a:srgbClr val="FF6400"/>
      </a:dk2>
      <a:lt2>
        <a:srgbClr val="50B946"/>
      </a:lt2>
      <a:accent1>
        <a:srgbClr val="0C5AA6"/>
      </a:accent1>
      <a:accent2>
        <a:srgbClr val="FF9700"/>
      </a:accent2>
      <a:accent3>
        <a:srgbClr val="00A383"/>
      </a:accent3>
      <a:accent4>
        <a:srgbClr val="B0B12B"/>
      </a:accent4>
      <a:accent5>
        <a:srgbClr val="B22D2B"/>
      </a:accent5>
      <a:accent6>
        <a:srgbClr val="BDAEF2"/>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2226</TotalTime>
  <Words>2089</Words>
  <Application>Microsoft Macintosh PowerPoint</Application>
  <PresentationFormat>Widescreen</PresentationFormat>
  <Paragraphs>215</Paragraphs>
  <Slides>43</Slides>
  <Notes>43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Arial</vt:lpstr>
      <vt:lpstr>Noto Sans Symbols</vt:lpstr>
      <vt:lpstr>Roboto</vt:lpstr>
      <vt:lpstr>Calibri</vt:lpstr>
      <vt:lpstr>Wingdings</vt:lpstr>
      <vt:lpstr>Quattrocento Sans</vt:lpstr>
      <vt:lpstr>Courier New</vt:lpstr>
      <vt:lpstr>Custom Design</vt:lpstr>
      <vt:lpstr>PowerPoint Presentation</vt:lpstr>
      <vt:lpstr>PowerPoint Presentation</vt:lpstr>
      <vt:lpstr>PowerPoint Presentation</vt:lpstr>
      <vt:lpstr>PowerPoint Presentation</vt:lpstr>
      <vt:lpstr>1. UX Insight?</vt:lpstr>
      <vt:lpstr>1. UX Insight?</vt:lpstr>
      <vt:lpstr>2. Quy trình trải nghiệm người dùng (UX Process)? </vt:lpstr>
      <vt:lpstr>2. Quy trình trải nghiệm người dung (UX Process)? </vt:lpstr>
      <vt:lpstr>3. Các phương pháp nghiên cứu</vt:lpstr>
      <vt:lpstr>4. Thiết kế người dùng làm trung tâm</vt:lpstr>
      <vt:lpstr>4. Thiết kế người dùng làm trung tâm</vt:lpstr>
      <vt:lpstr>4. Thiết kế người dùng làm trung tâm</vt:lpstr>
      <vt:lpstr>5. Một số phương pháp UCD</vt:lpstr>
      <vt:lpstr>5. Một số phương pháp UCD</vt:lpstr>
      <vt:lpstr>5. Một số phương pháp UCD</vt:lpstr>
      <vt:lpstr>5. Một số phương pháp UCD</vt:lpstr>
      <vt:lpstr>5. Một số phương pháp UCD</vt:lpstr>
      <vt:lpstr>5. Một số phương pháp UCD</vt:lpstr>
      <vt:lpstr>6. Khả năng sử dụng sản phẩm</vt:lpstr>
      <vt:lpstr>6. Khả năng sử dụng sản phẩm</vt:lpstr>
      <vt:lpstr>6. Khả năng sử dụng sản phẩm</vt:lpstr>
      <vt:lpstr>PowerPoint Presentation</vt:lpstr>
      <vt:lpstr>7. Hành vi người dùng</vt:lpstr>
      <vt:lpstr>7. Hành vi người dùng</vt:lpstr>
      <vt:lpstr>7. Hành vi người dùng</vt:lpstr>
      <vt:lpstr>7. Hành vi người dùng</vt:lpstr>
      <vt:lpstr>7. Hành vi người dùng</vt:lpstr>
      <vt:lpstr>8. Thiết kế wireframe</vt:lpstr>
      <vt:lpstr>8. Thiết kế wireframe</vt:lpstr>
      <vt:lpstr>8. Thiết kế wireframe</vt:lpstr>
      <vt:lpstr>8. Thiết kế wireframe</vt:lpstr>
      <vt:lpstr>8. Thiết kế wireframe</vt:lpstr>
      <vt:lpstr>8. Thiết kế wireframe với figma</vt:lpstr>
      <vt:lpstr>8. Thiết kế wireframe với figma</vt:lpstr>
      <vt:lpstr>8. Thiết kế wireframe với figma</vt:lpstr>
      <vt:lpstr>8. Thiết kế wireframe với figma</vt:lpstr>
      <vt:lpstr>8. Thiết kế wireframe với figma</vt:lpstr>
      <vt:lpstr>8. Thiết kế wireframe với figma</vt:lpstr>
      <vt:lpstr>PowerPoint Presentation</vt:lpstr>
      <vt:lpstr>Nội dung bài 2</vt:lpstr>
      <vt:lpstr>PowerPoint Presentation</vt:lpstr>
      <vt:lpstr>Nội dung bài online 3: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Nguyen Nguyen Thi Phuong</cp:lastModifiedBy>
  <cp:revision>56</cp:revision>
  <dcterms:created xsi:type="dcterms:W3CDTF">2014-05-13T09:25:00Z</dcterms:created>
  <dcterms:modified xsi:type="dcterms:W3CDTF">2026-01-15T06:04:14Z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2589D9DC766A45C49A5709A5A6AB3798</vt:lpwstr>
  </property>
  <property fmtid="{D5CDD505-2E9C-101B-9397-08002B2CF9AE}" pid="3" name="KSOProductBuildVer">
    <vt:lpwstr>1033-11.2.0.11486</vt:lpwstr>
  </property>
</Properties>
</file>